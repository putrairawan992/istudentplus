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EA09181-7ED5-4E7B-B895-A95FE9B25982}">
  <a:tblStyle styleId="{8EA09181-7ED5-4E7B-B895-A95FE9B2598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7d5d38210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7d5d38210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7d5d38210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7d5d38210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7d5d382108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7d5d382108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7d5d382108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7d5d382108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7d5d382108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7d5d382108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7d5d382108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7d5d382108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DILLA - </a:t>
            </a:r>
            <a:r>
              <a:rPr lang="en"/>
              <a:t>I am an Education Consultant with more than two years of experience assisting international students in choosing the right study pathways abroad. My role includes providing personalized guidance on course selection, visa processes, and applications to educational institutions, ensuring that students receive the best options aligned with their academic and career goals. I have a strong understanding of international education systems and student visa regulations, which enables me to deliver accurate and practical advice.</a:t>
            </a:r>
            <a:endParaRPr/>
          </a:p>
          <a:p>
            <a:pPr indent="0" lvl="0" marL="0" rtl="0" algn="l">
              <a:lnSpc>
                <a:spcPct val="115000"/>
              </a:lnSpc>
              <a:spcBef>
                <a:spcPts val="1200"/>
              </a:spcBef>
              <a:spcAft>
                <a:spcPts val="0"/>
              </a:spcAft>
              <a:buClr>
                <a:schemeClr val="dk1"/>
              </a:buClr>
              <a:buSzPts val="1100"/>
              <a:buFont typeface="Arial"/>
              <a:buNone/>
            </a:pPr>
            <a:r>
              <a:rPr lang="en"/>
              <a:t>During my career at iStudentPlus, I have successfully supported students from diverse backgrounds, maintained effective communication with partner institutions, and ensured smooth application processes. My strengths lie in attention to detail, problem-solving, and the ability to build trusted relationships with students, partner institutions, and other related parties. I am passionate about education and committed to helping students achieve their goals through professional guidance and quality support.</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7d5d382108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7d5d382108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7d5d382108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7d5d382108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7d5d382108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7d5d382108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7d5d382108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7d5d382108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7d5d382108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7d5d382108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7d5d382108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7d5d382108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7eb5dede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7eb5dede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29.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26.png"/><Relationship Id="rId5" Type="http://schemas.openxmlformats.org/officeDocument/2006/relationships/image" Target="../media/image12.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image" Target="../media/image28.png"/><Relationship Id="rId6" Type="http://schemas.openxmlformats.org/officeDocument/2006/relationships/image" Target="../media/image7.png"/><Relationship Id="rId7" Type="http://schemas.openxmlformats.org/officeDocument/2006/relationships/image" Target="../media/image19.png"/><Relationship Id="rId8"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3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23.png"/><Relationship Id="rId5" Type="http://schemas.openxmlformats.org/officeDocument/2006/relationships/image" Target="../media/image32.png"/><Relationship Id="rId6"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5.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1.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iStudentPlus Website Development</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56" name="Rounded Rectangle 55"/>
          <p:cNvSpPr/>
          <p:nvPr/>
        </p:nvSpPr>
        <p:spPr>
          <a:xfrm>
            <a:off x="5669280" y="164592"/>
            <a:ext cx="3246120" cy="713232"/>
          </a:xfrm>
          <a:prstGeom prst="roundRect">
            <a:avLst/>
          </a:prstGeom>
          <a:solidFill>
            <a:srgbClr val="14304C"/>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r>
              <a:rPr sz="1200" b="1">
                <a:solidFill>
                  <a:srgbClr val="FFFFFF"/>
                </a:solidFill>
              </a:rPr>
              <a:t>STATUS UPDATE — 16 JUL 2026</a:t>
            </a:r>
          </a:p>
          <a:p>
            <a:r>
              <a:rPr sz="850">
                <a:solidFill>
                  <a:srgbClr val="FFFFFF"/>
                </a:solidFill>
              </a:rPr>
              <a:t>Implementasi Next.js: lihat banner di tiap slide</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graphicFrame>
        <p:nvGraphicFramePr>
          <p:cNvPr id="60" name="Google Shape;60;p14"/>
          <p:cNvGraphicFramePr/>
          <p:nvPr/>
        </p:nvGraphicFramePr>
        <p:xfrm>
          <a:off x="64625" y="1866900"/>
          <a:ext cx="3000000" cy="3000000"/>
        </p:xfrm>
        <a:graphic>
          <a:graphicData uri="http://schemas.openxmlformats.org/drawingml/2006/table">
            <a:tbl>
              <a:tblPr>
                <a:noFill/>
                <a:tableStyleId>{8EA09181-7ED5-4E7B-B895-A95FE9B25982}</a:tableStyleId>
              </a:tblPr>
              <a:tblGrid>
                <a:gridCol w="247075"/>
                <a:gridCol w="868775"/>
                <a:gridCol w="689850"/>
                <a:gridCol w="689850"/>
                <a:gridCol w="1528000"/>
                <a:gridCol w="1515425"/>
                <a:gridCol w="1088225"/>
                <a:gridCol w="835625"/>
                <a:gridCol w="867025"/>
              </a:tblGrid>
              <a:tr h="209550">
                <a:tc>
                  <a:txBody>
                    <a:bodyPr/>
                    <a:lstStyle/>
                    <a:p>
                      <a:pPr indent="0" lvl="0" marL="0" rtl="0" algn="l">
                        <a:lnSpc>
                          <a:spcPct val="115000"/>
                        </a:lnSpc>
                        <a:spcBef>
                          <a:spcPts val="0"/>
                        </a:spcBef>
                        <a:spcAft>
                          <a:spcPts val="0"/>
                        </a:spcAft>
                        <a:buNone/>
                      </a:pPr>
                      <a:r>
                        <a:rPr b="1" lang="en" sz="800"/>
                        <a:t>Menu</a:t>
                      </a:r>
                      <a:endParaRPr b="1" sz="800"/>
                    </a:p>
                  </a:txBody>
                  <a:tcPr marT="19050" marB="19050" marR="28575" marL="2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Home</a:t>
                      </a:r>
                      <a:endParaRPr sz="800"/>
                    </a:p>
                  </a:txBody>
                  <a:tcPr marT="19050" marB="19050" marR="28575" marL="2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About Us</a:t>
                      </a:r>
                      <a:endParaRPr sz="800"/>
                    </a:p>
                  </a:txBody>
                  <a:tcPr marT="19050" marB="19050" marR="28575" marL="2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Study Abroad</a:t>
                      </a:r>
                      <a:endParaRPr sz="800"/>
                    </a:p>
                  </a:txBody>
                  <a:tcPr marT="19050" marB="19050" marR="28575" marL="2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Services</a:t>
                      </a:r>
                      <a:endParaRPr sz="800"/>
                    </a:p>
                  </a:txBody>
                  <a:tcPr marT="19050" marB="19050" marR="28575" marL="2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Courses &amp; Universities</a:t>
                      </a:r>
                      <a:endParaRPr sz="800"/>
                    </a:p>
                  </a:txBody>
                  <a:tcPr marT="19050" marB="19050" marR="28575" marL="2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Language Programs</a:t>
                      </a:r>
                      <a:endParaRPr sz="800"/>
                    </a:p>
                  </a:txBody>
                  <a:tcPr marT="19050" marB="19050" marR="28575" marL="2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Blog</a:t>
                      </a:r>
                      <a:endParaRPr sz="800"/>
                    </a:p>
                  </a:txBody>
                  <a:tcPr marT="19050" marB="19050" marR="28575" marL="2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Contact Us</a:t>
                      </a:r>
                      <a:endParaRPr sz="800"/>
                    </a:p>
                  </a:txBody>
                  <a:tcPr marT="19050" marB="19050" marR="28575" marL="2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695450">
                <a:tc>
                  <a:txBody>
                    <a:bodyPr/>
                    <a:lstStyle/>
                    <a:p>
                      <a:pPr indent="0" lvl="0" marL="0" rtl="0" algn="l">
                        <a:lnSpc>
                          <a:spcPct val="115000"/>
                        </a:lnSpc>
                        <a:spcBef>
                          <a:spcPts val="0"/>
                        </a:spcBef>
                        <a:spcAft>
                          <a:spcPts val="0"/>
                        </a:spcAft>
                        <a:buNone/>
                      </a:pPr>
                      <a:r>
                        <a:rPr b="1" lang="en" sz="800"/>
                        <a:t>Sub Menu - Drop Down List</a:t>
                      </a:r>
                      <a:endParaRPr b="1" sz="800"/>
                    </a:p>
                  </a:txBody>
                  <a:tcPr marT="19050" marB="19050" marR="28575" marL="2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19050" marB="19050" marR="28575" marL="2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800"/>
                    </a:p>
                  </a:txBody>
                  <a:tcPr marT="19050" marB="19050" marR="28575" marL="2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107950" lvl="0" marL="171450" rtl="0" algn="l">
                        <a:lnSpc>
                          <a:spcPct val="115000"/>
                        </a:lnSpc>
                        <a:spcBef>
                          <a:spcPts val="0"/>
                        </a:spcBef>
                        <a:spcAft>
                          <a:spcPts val="0"/>
                        </a:spcAft>
                        <a:buSzPts val="800"/>
                        <a:buChar char="●"/>
                      </a:pPr>
                      <a:r>
                        <a:rPr lang="en" sz="800"/>
                        <a:t>Australia</a:t>
                      </a:r>
                      <a:endParaRPr sz="800"/>
                    </a:p>
                    <a:p>
                      <a:pPr indent="-107950" lvl="0" marL="171450" rtl="0" algn="l">
                        <a:lnSpc>
                          <a:spcPct val="115000"/>
                        </a:lnSpc>
                        <a:spcBef>
                          <a:spcPts val="0"/>
                        </a:spcBef>
                        <a:spcAft>
                          <a:spcPts val="0"/>
                        </a:spcAft>
                        <a:buSzPts val="800"/>
                        <a:buChar char="●"/>
                      </a:pPr>
                      <a:r>
                        <a:rPr lang="en" sz="800"/>
                        <a:t>UK</a:t>
                      </a:r>
                      <a:endParaRPr sz="800"/>
                    </a:p>
                    <a:p>
                      <a:pPr indent="-107950" lvl="0" marL="171450" rtl="0" algn="l">
                        <a:lnSpc>
                          <a:spcPct val="115000"/>
                        </a:lnSpc>
                        <a:spcBef>
                          <a:spcPts val="0"/>
                        </a:spcBef>
                        <a:spcAft>
                          <a:spcPts val="0"/>
                        </a:spcAft>
                        <a:buSzPts val="800"/>
                        <a:buChar char="●"/>
                      </a:pPr>
                      <a:r>
                        <a:rPr lang="en" sz="800"/>
                        <a:t>USA</a:t>
                      </a:r>
                      <a:endParaRPr sz="800"/>
                    </a:p>
                    <a:p>
                      <a:pPr indent="-107950" lvl="0" marL="171450" rtl="0" algn="l">
                        <a:lnSpc>
                          <a:spcPct val="115000"/>
                        </a:lnSpc>
                        <a:spcBef>
                          <a:spcPts val="0"/>
                        </a:spcBef>
                        <a:spcAft>
                          <a:spcPts val="0"/>
                        </a:spcAft>
                        <a:buSzPts val="800"/>
                        <a:buChar char="●"/>
                      </a:pPr>
                      <a:r>
                        <a:rPr lang="en" sz="800"/>
                        <a:t>Canada</a:t>
                      </a:r>
                      <a:endParaRPr sz="800"/>
                    </a:p>
                    <a:p>
                      <a:pPr indent="-107950" lvl="0" marL="171450" rtl="0" algn="l">
                        <a:lnSpc>
                          <a:spcPct val="115000"/>
                        </a:lnSpc>
                        <a:spcBef>
                          <a:spcPts val="0"/>
                        </a:spcBef>
                        <a:spcAft>
                          <a:spcPts val="0"/>
                        </a:spcAft>
                        <a:buSzPts val="800"/>
                        <a:buChar char="●"/>
                      </a:pPr>
                      <a:r>
                        <a:rPr lang="en" sz="800"/>
                        <a:t>China</a:t>
                      </a:r>
                      <a:endParaRPr sz="800"/>
                    </a:p>
                    <a:p>
                      <a:pPr indent="-107950" lvl="0" marL="171450" rtl="0" algn="l">
                        <a:lnSpc>
                          <a:spcPct val="115000"/>
                        </a:lnSpc>
                        <a:spcBef>
                          <a:spcPts val="0"/>
                        </a:spcBef>
                        <a:spcAft>
                          <a:spcPts val="0"/>
                        </a:spcAft>
                        <a:buSzPts val="800"/>
                        <a:buChar char="●"/>
                      </a:pPr>
                      <a:r>
                        <a:rPr lang="en" sz="800"/>
                        <a:t>Japan</a:t>
                      </a:r>
                      <a:endParaRPr sz="800"/>
                    </a:p>
                  </a:txBody>
                  <a:tcPr marT="19050" marB="19050" marR="28575" marL="2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165100" lvl="0" marL="228600" rtl="0" algn="l">
                        <a:lnSpc>
                          <a:spcPct val="115000"/>
                        </a:lnSpc>
                        <a:spcBef>
                          <a:spcPts val="0"/>
                        </a:spcBef>
                        <a:spcAft>
                          <a:spcPts val="0"/>
                        </a:spcAft>
                        <a:buSzPts val="800"/>
                        <a:buChar char="●"/>
                      </a:pPr>
                      <a:r>
                        <a:rPr lang="en" sz="800"/>
                        <a:t>Admission Counselling | Konsultasi Akademik</a:t>
                      </a:r>
                      <a:endParaRPr sz="800"/>
                    </a:p>
                    <a:p>
                      <a:pPr indent="-165100" lvl="0" marL="228600" rtl="0" algn="l">
                        <a:lnSpc>
                          <a:spcPct val="115000"/>
                        </a:lnSpc>
                        <a:spcBef>
                          <a:spcPts val="0"/>
                        </a:spcBef>
                        <a:spcAft>
                          <a:spcPts val="0"/>
                        </a:spcAft>
                        <a:buSzPts val="800"/>
                        <a:buChar char="●"/>
                      </a:pPr>
                      <a:r>
                        <a:rPr lang="en" sz="800"/>
                        <a:t>Visa &amp; Immigration | Visa &amp; Imigrasi</a:t>
                      </a:r>
                      <a:endParaRPr sz="800"/>
                    </a:p>
                    <a:p>
                      <a:pPr indent="-165100" lvl="0" marL="228600" rtl="0" algn="l">
                        <a:lnSpc>
                          <a:spcPct val="115000"/>
                        </a:lnSpc>
                        <a:spcBef>
                          <a:spcPts val="0"/>
                        </a:spcBef>
                        <a:spcAft>
                          <a:spcPts val="0"/>
                        </a:spcAft>
                        <a:buSzPts val="800"/>
                        <a:buChar char="●"/>
                      </a:pPr>
                      <a:r>
                        <a:rPr lang="en" sz="800"/>
                        <a:t>Language Test Preparation | Tes Bahasa</a:t>
                      </a:r>
                      <a:endParaRPr sz="800"/>
                    </a:p>
                    <a:p>
                      <a:pPr indent="-165100" lvl="0" marL="228600" rtl="0" algn="l">
                        <a:lnSpc>
                          <a:spcPct val="115000"/>
                        </a:lnSpc>
                        <a:spcBef>
                          <a:spcPts val="0"/>
                        </a:spcBef>
                        <a:spcAft>
                          <a:spcPts val="0"/>
                        </a:spcAft>
                        <a:buSzPts val="800"/>
                        <a:buChar char="●"/>
                      </a:pPr>
                      <a:r>
                        <a:rPr lang="en" sz="800"/>
                        <a:t>Student Accommodation | Akomodasi Pelajar</a:t>
                      </a:r>
                      <a:endParaRPr sz="800"/>
                    </a:p>
                    <a:p>
                      <a:pPr indent="-165100" lvl="0" marL="228600" rtl="0" algn="l">
                        <a:lnSpc>
                          <a:spcPct val="115000"/>
                        </a:lnSpc>
                        <a:spcBef>
                          <a:spcPts val="0"/>
                        </a:spcBef>
                        <a:spcAft>
                          <a:spcPts val="0"/>
                        </a:spcAft>
                        <a:buSzPts val="800"/>
                        <a:buChar char="●"/>
                      </a:pPr>
                      <a:r>
                        <a:rPr lang="en" sz="800"/>
                        <a:t>Insurance | Asuransi</a:t>
                      </a:r>
                      <a:endParaRPr sz="800"/>
                    </a:p>
                  </a:txBody>
                  <a:tcPr marT="19050" marB="19050" marR="28575" marL="2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165100" lvl="0" marL="285750" rtl="0" algn="l">
                        <a:lnSpc>
                          <a:spcPct val="115000"/>
                        </a:lnSpc>
                        <a:spcBef>
                          <a:spcPts val="0"/>
                        </a:spcBef>
                        <a:spcAft>
                          <a:spcPts val="0"/>
                        </a:spcAft>
                        <a:buSzPts val="800"/>
                        <a:buChar char="●"/>
                      </a:pPr>
                      <a:r>
                        <a:rPr lang="en" sz="800"/>
                        <a:t>Qualification | Jenjang Study</a:t>
                      </a:r>
                      <a:endParaRPr sz="800"/>
                    </a:p>
                    <a:p>
                      <a:pPr indent="-165100" lvl="0" marL="285750" rtl="0" algn="l">
                        <a:lnSpc>
                          <a:spcPct val="115000"/>
                        </a:lnSpc>
                        <a:spcBef>
                          <a:spcPts val="0"/>
                        </a:spcBef>
                        <a:spcAft>
                          <a:spcPts val="0"/>
                        </a:spcAft>
                        <a:buSzPts val="800"/>
                        <a:buChar char="●"/>
                      </a:pPr>
                      <a:r>
                        <a:rPr lang="en" sz="800"/>
                        <a:t>VET Courses | Pendidikan Vokasi &amp; Diploma</a:t>
                      </a:r>
                      <a:endParaRPr sz="800"/>
                    </a:p>
                    <a:p>
                      <a:pPr indent="-165100" lvl="0" marL="285750" rtl="0" algn="l">
                        <a:lnSpc>
                          <a:spcPct val="115000"/>
                        </a:lnSpc>
                        <a:spcBef>
                          <a:spcPts val="0"/>
                        </a:spcBef>
                        <a:spcAft>
                          <a:spcPts val="0"/>
                        </a:spcAft>
                        <a:buSzPts val="800"/>
                        <a:buChar char="●"/>
                      </a:pPr>
                      <a:r>
                        <a:rPr lang="en" sz="800"/>
                        <a:t>Bachelor Degree | Sarjana (S1)</a:t>
                      </a:r>
                      <a:endParaRPr sz="800"/>
                    </a:p>
                    <a:p>
                      <a:pPr indent="-165100" lvl="0" marL="285750" rtl="0" algn="l">
                        <a:lnSpc>
                          <a:spcPct val="115000"/>
                        </a:lnSpc>
                        <a:spcBef>
                          <a:spcPts val="0"/>
                        </a:spcBef>
                        <a:spcAft>
                          <a:spcPts val="0"/>
                        </a:spcAft>
                        <a:buSzPts val="800"/>
                        <a:buChar char="●"/>
                      </a:pPr>
                      <a:r>
                        <a:rPr lang="en" sz="800"/>
                        <a:t>Master Degree | Pascasarjana (S2 &amp; S3)</a:t>
                      </a:r>
                      <a:endParaRPr sz="800"/>
                    </a:p>
                    <a:p>
                      <a:pPr indent="-165100" lvl="0" marL="285750" rtl="0" algn="l">
                        <a:lnSpc>
                          <a:spcPct val="115000"/>
                        </a:lnSpc>
                        <a:spcBef>
                          <a:spcPts val="0"/>
                        </a:spcBef>
                        <a:spcAft>
                          <a:spcPts val="0"/>
                        </a:spcAft>
                        <a:buSzPts val="800"/>
                        <a:buChar char="●"/>
                      </a:pPr>
                      <a:r>
                        <a:rPr lang="en" sz="800"/>
                        <a:t>Student Exchange Program | Program Pertukaran Pelajar</a:t>
                      </a:r>
                      <a:endParaRPr sz="800"/>
                    </a:p>
                  </a:txBody>
                  <a:tcPr marT="19050" marB="19050" marR="28575" marL="2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165100" lvl="0" marL="228600" rtl="0" algn="l">
                        <a:lnSpc>
                          <a:spcPct val="115000"/>
                        </a:lnSpc>
                        <a:spcBef>
                          <a:spcPts val="0"/>
                        </a:spcBef>
                        <a:spcAft>
                          <a:spcPts val="0"/>
                        </a:spcAft>
                        <a:buSzPts val="800"/>
                        <a:buChar char="●"/>
                      </a:pPr>
                      <a:r>
                        <a:rPr lang="en" sz="800"/>
                        <a:t>General English</a:t>
                      </a:r>
                      <a:endParaRPr sz="800"/>
                    </a:p>
                    <a:p>
                      <a:pPr indent="-165100" lvl="0" marL="228600" rtl="0" algn="l">
                        <a:lnSpc>
                          <a:spcPct val="115000"/>
                        </a:lnSpc>
                        <a:spcBef>
                          <a:spcPts val="0"/>
                        </a:spcBef>
                        <a:spcAft>
                          <a:spcPts val="0"/>
                        </a:spcAft>
                        <a:buSzPts val="800"/>
                        <a:buChar char="●"/>
                      </a:pPr>
                      <a:r>
                        <a:rPr lang="en" sz="800"/>
                        <a:t>Conversation Class</a:t>
                      </a:r>
                      <a:endParaRPr sz="800"/>
                    </a:p>
                    <a:p>
                      <a:pPr indent="-165100" lvl="0" marL="228600" rtl="0" algn="l">
                        <a:lnSpc>
                          <a:spcPct val="115000"/>
                        </a:lnSpc>
                        <a:spcBef>
                          <a:spcPts val="0"/>
                        </a:spcBef>
                        <a:spcAft>
                          <a:spcPts val="0"/>
                        </a:spcAft>
                        <a:buSzPts val="800"/>
                        <a:buChar char="●"/>
                      </a:pPr>
                      <a:r>
                        <a:rPr lang="en" sz="800"/>
                        <a:t>IELTS</a:t>
                      </a:r>
                      <a:endParaRPr sz="800"/>
                    </a:p>
                    <a:p>
                      <a:pPr indent="-165100" lvl="0" marL="228600" rtl="0" algn="l">
                        <a:lnSpc>
                          <a:spcPct val="115000"/>
                        </a:lnSpc>
                        <a:spcBef>
                          <a:spcPts val="0"/>
                        </a:spcBef>
                        <a:spcAft>
                          <a:spcPts val="0"/>
                        </a:spcAft>
                        <a:buSzPts val="800"/>
                        <a:buChar char="●"/>
                      </a:pPr>
                      <a:r>
                        <a:rPr lang="en" sz="800"/>
                        <a:t>JLPT</a:t>
                      </a:r>
                      <a:endParaRPr sz="800"/>
                    </a:p>
                  </a:txBody>
                  <a:tcPr marT="19050" marB="19050" marR="28575" marL="2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107950" lvl="0" marL="171450" rtl="0" algn="l">
                        <a:lnSpc>
                          <a:spcPct val="115000"/>
                        </a:lnSpc>
                        <a:spcBef>
                          <a:spcPts val="0"/>
                        </a:spcBef>
                        <a:spcAft>
                          <a:spcPts val="0"/>
                        </a:spcAft>
                        <a:buSzPts val="800"/>
                        <a:buChar char="●"/>
                      </a:pPr>
                      <a:r>
                        <a:rPr lang="en" sz="800"/>
                        <a:t>Recent News</a:t>
                      </a:r>
                      <a:endParaRPr sz="800"/>
                    </a:p>
                    <a:p>
                      <a:pPr indent="-107950" lvl="0" marL="171450" rtl="0" algn="l">
                        <a:lnSpc>
                          <a:spcPct val="115000"/>
                        </a:lnSpc>
                        <a:spcBef>
                          <a:spcPts val="0"/>
                        </a:spcBef>
                        <a:spcAft>
                          <a:spcPts val="0"/>
                        </a:spcAft>
                        <a:buSzPts val="800"/>
                        <a:buChar char="●"/>
                      </a:pPr>
                      <a:r>
                        <a:rPr lang="en" sz="800"/>
                        <a:t>Immigration</a:t>
                      </a:r>
                      <a:endParaRPr sz="800"/>
                    </a:p>
                    <a:p>
                      <a:pPr indent="-107950" lvl="0" marL="171450" rtl="0" algn="l">
                        <a:lnSpc>
                          <a:spcPct val="115000"/>
                        </a:lnSpc>
                        <a:spcBef>
                          <a:spcPts val="0"/>
                        </a:spcBef>
                        <a:spcAft>
                          <a:spcPts val="0"/>
                        </a:spcAft>
                        <a:buSzPts val="800"/>
                        <a:buChar char="●"/>
                      </a:pPr>
                      <a:r>
                        <a:rPr lang="en" sz="800"/>
                        <a:t>Student Life</a:t>
                      </a:r>
                      <a:endParaRPr sz="800"/>
                    </a:p>
                    <a:p>
                      <a:pPr indent="-107950" lvl="0" marL="171450" rtl="0" algn="l">
                        <a:lnSpc>
                          <a:spcPct val="115000"/>
                        </a:lnSpc>
                        <a:spcBef>
                          <a:spcPts val="0"/>
                        </a:spcBef>
                        <a:spcAft>
                          <a:spcPts val="0"/>
                        </a:spcAft>
                        <a:buSzPts val="800"/>
                        <a:buChar char="●"/>
                      </a:pPr>
                      <a:r>
                        <a:rPr lang="en" sz="800"/>
                        <a:t>Study Tips</a:t>
                      </a:r>
                      <a:endParaRPr sz="800"/>
                    </a:p>
                  </a:txBody>
                  <a:tcPr marT="19050" marB="19050" marR="28575" marL="2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107950" lvl="0" marL="228600" rtl="0" algn="l">
                        <a:lnSpc>
                          <a:spcPct val="115000"/>
                        </a:lnSpc>
                        <a:spcBef>
                          <a:spcPts val="0"/>
                        </a:spcBef>
                        <a:spcAft>
                          <a:spcPts val="0"/>
                        </a:spcAft>
                        <a:buSzPts val="800"/>
                        <a:buChar char="●"/>
                      </a:pPr>
                      <a:r>
                        <a:rPr lang="en" sz="800"/>
                        <a:t>Our Offices</a:t>
                      </a:r>
                      <a:endParaRPr sz="800"/>
                    </a:p>
                    <a:p>
                      <a:pPr indent="-107950" lvl="0" marL="228600" rtl="0" algn="l">
                        <a:lnSpc>
                          <a:spcPct val="115000"/>
                        </a:lnSpc>
                        <a:spcBef>
                          <a:spcPts val="0"/>
                        </a:spcBef>
                        <a:spcAft>
                          <a:spcPts val="0"/>
                        </a:spcAft>
                        <a:buSzPts val="800"/>
                        <a:buChar char="●"/>
                      </a:pPr>
                      <a:r>
                        <a:rPr lang="en" sz="800"/>
                        <a:t>Email</a:t>
                      </a:r>
                      <a:endParaRPr sz="800"/>
                    </a:p>
                    <a:p>
                      <a:pPr indent="-107950" lvl="0" marL="228600" rtl="0" algn="l">
                        <a:lnSpc>
                          <a:spcPct val="115000"/>
                        </a:lnSpc>
                        <a:spcBef>
                          <a:spcPts val="0"/>
                        </a:spcBef>
                        <a:spcAft>
                          <a:spcPts val="0"/>
                        </a:spcAft>
                        <a:buSzPts val="800"/>
                        <a:buChar char="●"/>
                      </a:pPr>
                      <a:r>
                        <a:rPr lang="en" sz="800"/>
                        <a:t>Phone Number</a:t>
                      </a:r>
                      <a:endParaRPr sz="800"/>
                    </a:p>
                    <a:p>
                      <a:pPr indent="-107950" lvl="0" marL="228600" rtl="0" algn="l">
                        <a:lnSpc>
                          <a:spcPct val="115000"/>
                        </a:lnSpc>
                        <a:spcBef>
                          <a:spcPts val="0"/>
                        </a:spcBef>
                        <a:spcAft>
                          <a:spcPts val="0"/>
                        </a:spcAft>
                        <a:buSzPts val="800"/>
                        <a:buChar char="●"/>
                      </a:pPr>
                      <a:r>
                        <a:rPr lang="en" sz="800"/>
                        <a:t>Social Media</a:t>
                      </a:r>
                      <a:endParaRPr sz="800"/>
                    </a:p>
                  </a:txBody>
                  <a:tcPr marT="19050" marB="19050" marR="28575" marL="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pic>
        <p:nvPicPr>
          <p:cNvPr id="61" name="Google Shape;61;p14" title="Screenshot 2025-09-10 at 09.40.19.png"/>
          <p:cNvPicPr preferRelativeResize="0"/>
          <p:nvPr/>
        </p:nvPicPr>
        <p:blipFill rotWithShape="1">
          <a:blip r:embed="rId3">
            <a:alphaModFix/>
          </a:blip>
          <a:srcRect b="42376" l="0" r="0" t="0"/>
          <a:stretch/>
        </p:blipFill>
        <p:spPr>
          <a:xfrm>
            <a:off x="798038" y="981138"/>
            <a:ext cx="7267651" cy="629800"/>
          </a:xfrm>
          <a:prstGeom prst="rect">
            <a:avLst/>
          </a:prstGeom>
          <a:noFill/>
          <a:ln>
            <a:noFill/>
          </a:ln>
          <a:effectLst>
            <a:outerShdw blurRad="57150" rotWithShape="0" algn="bl" dir="5400000" dist="19050">
              <a:srgbClr val="000000">
                <a:alpha val="50000"/>
              </a:srgbClr>
            </a:outerShdw>
          </a:effectLst>
        </p:spPr>
      </p:pic>
      <p:sp>
        <p:nvSpPr>
          <p:cNvPr id="62" name="Google Shape;62;p14"/>
          <p:cNvSpPr txBox="1"/>
          <p:nvPr>
            <p:ph type="title"/>
          </p:nvPr>
        </p:nvSpPr>
        <p:spPr>
          <a:xfrm>
            <a:off x="311688" y="1524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Menu</a:t>
            </a:r>
            <a:endParaRPr b="1" sz="1800"/>
          </a:p>
        </p:txBody>
      </p:sp>
      <p:sp>
        <p:nvSpPr>
          <p:cNvPr id="63" name="Google Shape;63;p14"/>
          <p:cNvSpPr txBox="1"/>
          <p:nvPr/>
        </p:nvSpPr>
        <p:spPr>
          <a:xfrm>
            <a:off x="226425" y="4143450"/>
            <a:ext cx="2714700" cy="6711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rPr>
              <a:t>Additional Button:</a:t>
            </a:r>
            <a:endParaRPr sz="800">
              <a:solidFill>
                <a:schemeClr val="lt1"/>
              </a:solidFill>
            </a:endParaRPr>
          </a:p>
          <a:p>
            <a:pPr indent="-279400" lvl="0" marL="457200" rtl="0" algn="l">
              <a:spcBef>
                <a:spcPts val="0"/>
              </a:spcBef>
              <a:spcAft>
                <a:spcPts val="0"/>
              </a:spcAft>
              <a:buClr>
                <a:schemeClr val="lt1"/>
              </a:buClr>
              <a:buSzPts val="800"/>
              <a:buChar char="●"/>
            </a:pPr>
            <a:r>
              <a:rPr lang="en" sz="800">
                <a:solidFill>
                  <a:schemeClr val="lt1"/>
                </a:solidFill>
              </a:rPr>
              <a:t>Book Free Consultation (linked to admission form, using pink color, top right)</a:t>
            </a:r>
            <a:endParaRPr sz="800">
              <a:solidFill>
                <a:schemeClr val="lt1"/>
              </a:solidFill>
            </a:endParaRPr>
          </a:p>
          <a:p>
            <a:pPr indent="-279400" lvl="0" marL="457200" rtl="0" algn="l">
              <a:spcBef>
                <a:spcPts val="0"/>
              </a:spcBef>
              <a:spcAft>
                <a:spcPts val="0"/>
              </a:spcAft>
              <a:buClr>
                <a:schemeClr val="lt1"/>
              </a:buClr>
              <a:buSzPts val="800"/>
              <a:buChar char="●"/>
            </a:pPr>
            <a:r>
              <a:rPr lang="en" sz="800">
                <a:solidFill>
                  <a:schemeClr val="lt1"/>
                </a:solidFill>
              </a:rPr>
              <a:t>Login </a:t>
            </a:r>
            <a:endParaRPr sz="800">
              <a:solidFill>
                <a:schemeClr val="lt1"/>
              </a:solidFill>
            </a:endParaRPr>
          </a:p>
          <a:p>
            <a:pPr indent="0" lvl="0" marL="0" rtl="0" algn="l">
              <a:spcBef>
                <a:spcPts val="0"/>
              </a:spcBef>
              <a:spcAft>
                <a:spcPts val="0"/>
              </a:spcAft>
              <a:buNone/>
            </a:pPr>
            <a:r>
              <a:t/>
            </a:r>
            <a:endParaRPr sz="800">
              <a:solidFill>
                <a:schemeClr val="lt1"/>
              </a:solidFill>
            </a:endParaRPr>
          </a:p>
        </p:txBody>
      </p:sp>
      <p:sp>
        <p:nvSpPr>
          <p:cNvPr id="64" name="Rounded Rectangle 63"/>
          <p:cNvSpPr/>
          <p:nvPr/>
        </p:nvSpPr>
        <p:spPr>
          <a:xfrm>
            <a:off x="5669280" y="164592"/>
            <a:ext cx="3246120" cy="713232"/>
          </a:xfrm>
          <a:prstGeom prst="roundRect">
            <a:avLst/>
          </a:prstGeom>
          <a:solidFill>
            <a:srgbClr val="1E8E5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r>
              <a:rPr sz="1200" b="1">
                <a:solidFill>
                  <a:srgbClr val="FFFFFF"/>
                </a:solidFill>
              </a:rPr>
              <a:t>SELESAI</a:t>
            </a:r>
          </a:p>
          <a:p>
            <a:r>
              <a:rPr sz="850">
                <a:solidFill>
                  <a:srgbClr val="FFFFFF"/>
                </a:solidFill>
              </a:rPr>
              <a:t>Nav + dropdown + CTA pink + Login. Ikon search/wishlist belum</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1320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Home</a:t>
            </a:r>
            <a:endParaRPr b="1" sz="1800"/>
          </a:p>
        </p:txBody>
      </p:sp>
      <p:pic>
        <p:nvPicPr>
          <p:cNvPr id="69" name="Google Shape;69;p15" title="Screenshot 2025-09-10 at 11.37.38.png"/>
          <p:cNvPicPr preferRelativeResize="0"/>
          <p:nvPr/>
        </p:nvPicPr>
        <p:blipFill>
          <a:blip r:embed="rId3">
            <a:alphaModFix/>
          </a:blip>
          <a:stretch>
            <a:fillRect/>
          </a:stretch>
        </p:blipFill>
        <p:spPr>
          <a:xfrm>
            <a:off x="281850" y="630451"/>
            <a:ext cx="4080051" cy="1904550"/>
          </a:xfrm>
          <a:prstGeom prst="rect">
            <a:avLst/>
          </a:prstGeom>
          <a:noFill/>
          <a:ln>
            <a:noFill/>
          </a:ln>
          <a:effectLst>
            <a:outerShdw blurRad="57150" rotWithShape="0" algn="bl" dir="5400000" dist="19050">
              <a:srgbClr val="000000">
                <a:alpha val="50000"/>
              </a:srgbClr>
            </a:outerShdw>
          </a:effectLst>
        </p:spPr>
      </p:pic>
      <p:pic>
        <p:nvPicPr>
          <p:cNvPr id="70" name="Google Shape;70;p15" title="Screenshot 2025-09-10 at 11.39.07.png"/>
          <p:cNvPicPr preferRelativeResize="0"/>
          <p:nvPr/>
        </p:nvPicPr>
        <p:blipFill>
          <a:blip r:embed="rId4">
            <a:alphaModFix/>
          </a:blip>
          <a:stretch>
            <a:fillRect/>
          </a:stretch>
        </p:blipFill>
        <p:spPr>
          <a:xfrm>
            <a:off x="155225" y="2978100"/>
            <a:ext cx="4388859" cy="1285800"/>
          </a:xfrm>
          <a:prstGeom prst="rect">
            <a:avLst/>
          </a:prstGeom>
          <a:noFill/>
          <a:ln>
            <a:noFill/>
          </a:ln>
          <a:effectLst>
            <a:outerShdw blurRad="57150" rotWithShape="0" algn="bl" dir="5400000" dist="19050">
              <a:srgbClr val="000000">
                <a:alpha val="50000"/>
              </a:srgbClr>
            </a:outerShdw>
          </a:effectLst>
        </p:spPr>
      </p:pic>
      <p:sp>
        <p:nvSpPr>
          <p:cNvPr id="71" name="Google Shape;71;p15"/>
          <p:cNvSpPr txBox="1"/>
          <p:nvPr/>
        </p:nvSpPr>
        <p:spPr>
          <a:xfrm>
            <a:off x="437900" y="2610300"/>
            <a:ext cx="3823500" cy="292500"/>
          </a:xfrm>
          <a:prstGeom prst="rect">
            <a:avLst/>
          </a:prstGeom>
          <a:solidFill>
            <a:schemeClr val="accent3"/>
          </a:solidFill>
          <a:ln>
            <a:noFill/>
          </a:ln>
        </p:spPr>
        <p:txBody>
          <a:bodyPr anchorCtr="0" anchor="t" bIns="91425" lIns="91425" spcFirstLastPara="1" rIns="91425" wrap="square" tIns="91425">
            <a:noAutofit/>
          </a:bodyPr>
          <a:lstStyle/>
          <a:p>
            <a:pPr indent="-279400" lvl="0" marL="457200" rtl="0" algn="l">
              <a:spcBef>
                <a:spcPts val="0"/>
              </a:spcBef>
              <a:spcAft>
                <a:spcPts val="0"/>
              </a:spcAft>
              <a:buClr>
                <a:schemeClr val="lt1"/>
              </a:buClr>
              <a:buSzPts val="800"/>
              <a:buAutoNum type="arabicPeriod"/>
            </a:pPr>
            <a:r>
              <a:rPr lang="en" sz="800">
                <a:solidFill>
                  <a:schemeClr val="lt1"/>
                </a:solidFill>
              </a:rPr>
              <a:t>Brief about what we do and how many partners we have</a:t>
            </a:r>
            <a:endParaRPr sz="1800">
              <a:solidFill>
                <a:schemeClr val="dk2"/>
              </a:solidFill>
            </a:endParaRPr>
          </a:p>
        </p:txBody>
      </p:sp>
      <p:sp>
        <p:nvSpPr>
          <p:cNvPr id="72" name="Google Shape;72;p15"/>
          <p:cNvSpPr txBox="1"/>
          <p:nvPr/>
        </p:nvSpPr>
        <p:spPr>
          <a:xfrm>
            <a:off x="467825" y="4293500"/>
            <a:ext cx="3823500" cy="2925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rPr>
              <a:t>2. How we can help (linked to the services page)</a:t>
            </a:r>
            <a:endParaRPr sz="800">
              <a:solidFill>
                <a:schemeClr val="lt1"/>
              </a:solidFill>
            </a:endParaRPr>
          </a:p>
          <a:p>
            <a:pPr indent="0" lvl="0" marL="0" rtl="0" algn="l">
              <a:spcBef>
                <a:spcPts val="0"/>
              </a:spcBef>
              <a:spcAft>
                <a:spcPts val="0"/>
              </a:spcAft>
              <a:buClr>
                <a:schemeClr val="dk1"/>
              </a:buClr>
              <a:buSzPts val="1100"/>
              <a:buFont typeface="Arial"/>
              <a:buNone/>
            </a:pPr>
            <a:r>
              <a:t/>
            </a:r>
            <a:endParaRPr sz="800">
              <a:solidFill>
                <a:schemeClr val="lt1"/>
              </a:solidFill>
            </a:endParaRPr>
          </a:p>
          <a:p>
            <a:pPr indent="0" lvl="0" marL="0" rtl="0" algn="l">
              <a:spcBef>
                <a:spcPts val="0"/>
              </a:spcBef>
              <a:spcAft>
                <a:spcPts val="0"/>
              </a:spcAft>
              <a:buNone/>
            </a:pPr>
            <a:r>
              <a:t/>
            </a:r>
            <a:endParaRPr sz="800">
              <a:solidFill>
                <a:schemeClr val="lt1"/>
              </a:solidFill>
            </a:endParaRPr>
          </a:p>
        </p:txBody>
      </p:sp>
      <p:pic>
        <p:nvPicPr>
          <p:cNvPr id="73" name="Google Shape;73;p15" title="Screenshot 2025-09-10 at 11.43.29.png"/>
          <p:cNvPicPr preferRelativeResize="0"/>
          <p:nvPr/>
        </p:nvPicPr>
        <p:blipFill>
          <a:blip r:embed="rId5">
            <a:alphaModFix/>
          </a:blip>
          <a:stretch>
            <a:fillRect/>
          </a:stretch>
        </p:blipFill>
        <p:spPr>
          <a:xfrm>
            <a:off x="4884689" y="184100"/>
            <a:ext cx="3717976" cy="2623524"/>
          </a:xfrm>
          <a:prstGeom prst="rect">
            <a:avLst/>
          </a:prstGeom>
          <a:noFill/>
          <a:ln>
            <a:noFill/>
          </a:ln>
          <a:effectLst>
            <a:outerShdw blurRad="57150" rotWithShape="0" algn="bl" dir="5400000" dist="19050">
              <a:srgbClr val="000000">
                <a:alpha val="50000"/>
              </a:srgbClr>
            </a:outerShdw>
          </a:effectLst>
        </p:spPr>
      </p:pic>
      <p:sp>
        <p:nvSpPr>
          <p:cNvPr id="74" name="Google Shape;74;p15"/>
          <p:cNvSpPr txBox="1"/>
          <p:nvPr/>
        </p:nvSpPr>
        <p:spPr>
          <a:xfrm>
            <a:off x="4831925" y="2807625"/>
            <a:ext cx="3823500" cy="21429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rPr>
              <a:t>3. Step by step guidance with CTA button that links to Registration Form</a:t>
            </a:r>
            <a:endParaRPr sz="800">
              <a:solidFill>
                <a:schemeClr val="lt1"/>
              </a:solidFill>
            </a:endParaRPr>
          </a:p>
          <a:p>
            <a:pPr indent="0" lvl="0" marL="0" rtl="0" algn="l">
              <a:spcBef>
                <a:spcPts val="0"/>
              </a:spcBef>
              <a:spcAft>
                <a:spcPts val="0"/>
              </a:spcAft>
              <a:buNone/>
            </a:pPr>
            <a:r>
              <a:t/>
            </a:r>
            <a:endParaRPr sz="800">
              <a:solidFill>
                <a:schemeClr val="lt1"/>
              </a:solidFill>
            </a:endParaRPr>
          </a:p>
          <a:p>
            <a:pPr indent="0" lvl="0" marL="0" rtl="0" algn="l">
              <a:spcBef>
                <a:spcPts val="0"/>
              </a:spcBef>
              <a:spcAft>
                <a:spcPts val="0"/>
              </a:spcAft>
              <a:buNone/>
            </a:pPr>
            <a:r>
              <a:rPr b="1" lang="en" sz="800">
                <a:solidFill>
                  <a:schemeClr val="lt1"/>
                </a:solidFill>
              </a:rPr>
              <a:t>Your Journey to Study Abroad, Simplified in 6 Steps</a:t>
            </a:r>
            <a:endParaRPr b="1" sz="800">
              <a:solidFill>
                <a:schemeClr val="lt1"/>
              </a:solidFill>
            </a:endParaRPr>
          </a:p>
          <a:p>
            <a:pPr indent="0" lvl="0" marL="0" rtl="0" algn="l">
              <a:spcBef>
                <a:spcPts val="0"/>
              </a:spcBef>
              <a:spcAft>
                <a:spcPts val="0"/>
              </a:spcAft>
              <a:buNone/>
            </a:pPr>
            <a:r>
              <a:rPr lang="en" sz="800">
                <a:solidFill>
                  <a:schemeClr val="lt1"/>
                </a:solidFill>
              </a:rPr>
              <a:t>From your first consultation to landing at your dream university, we guide you every step of the way.</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Personal Assessment – Explore your study goals, country preference, and career path.</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Document &amp; Finance Check – Review academic and financial readiness.</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Admission Process – Apply and secure offers from partner universities.</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Visa &amp; Immigration – Full support for a smooth application process.</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Pre-Departure Prep – Orientation, accommodation, and travel guidance.</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Enrollment Abroad – Begin your study journey with confidence.</a:t>
            </a:r>
            <a:endParaRPr sz="800">
              <a:solidFill>
                <a:schemeClr val="lt1"/>
              </a:solidFill>
            </a:endParaRPr>
          </a:p>
        </p:txBody>
      </p:sp>
      <p:pic>
        <p:nvPicPr>
          <p:cNvPr id="75" name="Google Shape;75;p15" title="Screenshot 2025-09-10 at 19.22.12.png"/>
          <p:cNvPicPr preferRelativeResize="0"/>
          <p:nvPr/>
        </p:nvPicPr>
        <p:blipFill>
          <a:blip r:embed="rId6">
            <a:alphaModFix/>
          </a:blip>
          <a:stretch>
            <a:fillRect/>
          </a:stretch>
        </p:blipFill>
        <p:spPr>
          <a:xfrm>
            <a:off x="5767625" y="2535000"/>
            <a:ext cx="677625" cy="213600"/>
          </a:xfrm>
          <a:prstGeom prst="rect">
            <a:avLst/>
          </a:prstGeom>
          <a:noFill/>
          <a:ln>
            <a:noFill/>
          </a:ln>
        </p:spPr>
      </p:pic>
      <p:sp>
        <p:nvSpPr>
          <p:cNvPr id="76" name="Rounded Rectangle 75"/>
          <p:cNvSpPr/>
          <p:nvPr/>
        </p:nvSpPr>
        <p:spPr>
          <a:xfrm>
            <a:off x="5669280" y="164592"/>
            <a:ext cx="3246120" cy="713232"/>
          </a:xfrm>
          <a:prstGeom prst="roundRect">
            <a:avLst/>
          </a:prstGeom>
          <a:solidFill>
            <a:srgbClr val="1E8E5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r>
              <a:rPr sz="1200" b="1">
                <a:solidFill>
                  <a:srgbClr val="FFFFFF"/>
                </a:solidFill>
              </a:rPr>
              <a:t>SELESAI</a:t>
            </a:r>
          </a:p>
          <a:p>
            <a:r>
              <a:rPr sz="850">
                <a:solidFill>
                  <a:srgbClr val="FFFFFF"/>
                </a:solidFill>
              </a:rPr>
              <a:t>Hero foto siswa, 6 langkah, kartu layanan pastel</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1320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Home</a:t>
            </a:r>
            <a:endParaRPr b="1" sz="1800"/>
          </a:p>
        </p:txBody>
      </p:sp>
      <p:sp>
        <p:nvSpPr>
          <p:cNvPr id="81" name="Google Shape;81;p16"/>
          <p:cNvSpPr txBox="1"/>
          <p:nvPr/>
        </p:nvSpPr>
        <p:spPr>
          <a:xfrm>
            <a:off x="3943375" y="1378850"/>
            <a:ext cx="3823500" cy="21429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rPr>
              <a:t>FREE CONSULTATION FORM</a:t>
            </a:r>
            <a:endParaRPr sz="800">
              <a:solidFill>
                <a:schemeClr val="lt1"/>
              </a:solidFill>
            </a:endParaRPr>
          </a:p>
          <a:p>
            <a:pPr indent="0" lvl="0" marL="0" rtl="0" algn="l">
              <a:spcBef>
                <a:spcPts val="0"/>
              </a:spcBef>
              <a:spcAft>
                <a:spcPts val="0"/>
              </a:spcAft>
              <a:buNone/>
            </a:pPr>
            <a:r>
              <a:t/>
            </a:r>
            <a:endParaRPr sz="800">
              <a:solidFill>
                <a:schemeClr val="lt1"/>
              </a:solidFill>
            </a:endParaRPr>
          </a:p>
          <a:p>
            <a:pPr indent="-279400" lvl="0" marL="457200" rtl="0" algn="l">
              <a:spcBef>
                <a:spcPts val="0"/>
              </a:spcBef>
              <a:spcAft>
                <a:spcPts val="0"/>
              </a:spcAft>
              <a:buClr>
                <a:schemeClr val="lt1"/>
              </a:buClr>
              <a:buSzPts val="800"/>
              <a:buChar char="●"/>
            </a:pPr>
            <a:r>
              <a:rPr lang="en" sz="800">
                <a:solidFill>
                  <a:schemeClr val="lt1"/>
                </a:solidFill>
              </a:rPr>
              <a:t>Name</a:t>
            </a:r>
            <a:endParaRPr sz="800">
              <a:solidFill>
                <a:schemeClr val="lt1"/>
              </a:solidFill>
            </a:endParaRPr>
          </a:p>
          <a:p>
            <a:pPr indent="-279400" lvl="0" marL="457200" rtl="0" algn="l">
              <a:spcBef>
                <a:spcPts val="0"/>
              </a:spcBef>
              <a:spcAft>
                <a:spcPts val="0"/>
              </a:spcAft>
              <a:buClr>
                <a:schemeClr val="lt1"/>
              </a:buClr>
              <a:buSzPts val="800"/>
              <a:buChar char="●"/>
            </a:pPr>
            <a:r>
              <a:rPr lang="en" sz="800">
                <a:solidFill>
                  <a:schemeClr val="lt1"/>
                </a:solidFill>
              </a:rPr>
              <a:t>Email Address</a:t>
            </a:r>
            <a:endParaRPr sz="800">
              <a:solidFill>
                <a:schemeClr val="lt1"/>
              </a:solidFill>
            </a:endParaRPr>
          </a:p>
          <a:p>
            <a:pPr indent="-279400" lvl="0" marL="457200" rtl="0" algn="l">
              <a:spcBef>
                <a:spcPts val="0"/>
              </a:spcBef>
              <a:spcAft>
                <a:spcPts val="0"/>
              </a:spcAft>
              <a:buClr>
                <a:schemeClr val="lt1"/>
              </a:buClr>
              <a:buSzPts val="800"/>
              <a:buChar char="●"/>
            </a:pPr>
            <a:r>
              <a:rPr lang="en" sz="800">
                <a:solidFill>
                  <a:schemeClr val="lt1"/>
                </a:solidFill>
              </a:rPr>
              <a:t>WhatsApp Number</a:t>
            </a:r>
            <a:endParaRPr sz="800">
              <a:solidFill>
                <a:schemeClr val="lt1"/>
              </a:solidFill>
            </a:endParaRPr>
          </a:p>
          <a:p>
            <a:pPr indent="-279400" lvl="0" marL="457200" rtl="0" algn="l">
              <a:spcBef>
                <a:spcPts val="0"/>
              </a:spcBef>
              <a:spcAft>
                <a:spcPts val="0"/>
              </a:spcAft>
              <a:buClr>
                <a:schemeClr val="lt1"/>
              </a:buClr>
              <a:buSzPts val="800"/>
              <a:buChar char="●"/>
            </a:pPr>
            <a:r>
              <a:rPr lang="en" sz="800">
                <a:solidFill>
                  <a:schemeClr val="lt1"/>
                </a:solidFill>
              </a:rPr>
              <a:t>Preferred study destination: Australia, Japan, China, UK, USA, Canada, Others</a:t>
            </a:r>
            <a:endParaRPr sz="800">
              <a:solidFill>
                <a:schemeClr val="lt1"/>
              </a:solidFill>
            </a:endParaRPr>
          </a:p>
          <a:p>
            <a:pPr indent="-279400" lvl="0" marL="457200" rtl="0" algn="l">
              <a:lnSpc>
                <a:spcPct val="115000"/>
              </a:lnSpc>
              <a:spcBef>
                <a:spcPts val="0"/>
              </a:spcBef>
              <a:spcAft>
                <a:spcPts val="0"/>
              </a:spcAft>
              <a:buClr>
                <a:schemeClr val="lt1"/>
              </a:buClr>
              <a:buSzPts val="800"/>
              <a:buChar char="●"/>
            </a:pPr>
            <a:r>
              <a:rPr lang="en" sz="800">
                <a:solidFill>
                  <a:schemeClr val="lt1"/>
                </a:solidFill>
              </a:rPr>
              <a:t>Preferred field of study: Business, IT, Hospitality, Health, Language and Linguistic, Others.</a:t>
            </a:r>
            <a:endParaRPr sz="800">
              <a:solidFill>
                <a:schemeClr val="lt1"/>
              </a:solidFill>
            </a:endParaRPr>
          </a:p>
          <a:p>
            <a:pPr indent="-279400" lvl="0" marL="457200" rtl="0" algn="l">
              <a:lnSpc>
                <a:spcPct val="115000"/>
              </a:lnSpc>
              <a:spcBef>
                <a:spcPts val="0"/>
              </a:spcBef>
              <a:spcAft>
                <a:spcPts val="0"/>
              </a:spcAft>
              <a:buClr>
                <a:schemeClr val="lt1"/>
              </a:buClr>
              <a:buSzPts val="800"/>
              <a:buChar char="●"/>
            </a:pPr>
            <a:r>
              <a:rPr lang="en" sz="800">
                <a:solidFill>
                  <a:schemeClr val="lt1"/>
                </a:solidFill>
              </a:rPr>
              <a:t>Preferred level of qualification: VET or Diploma, Bachelor Degree, Master Degree, PhD, Language Study, Others</a:t>
            </a:r>
            <a:endParaRPr sz="800">
              <a:solidFill>
                <a:schemeClr val="lt1"/>
              </a:solidFill>
            </a:endParaRPr>
          </a:p>
          <a:p>
            <a:pPr indent="-279400" lvl="0" marL="457200" rtl="0" algn="l">
              <a:lnSpc>
                <a:spcPct val="115000"/>
              </a:lnSpc>
              <a:spcBef>
                <a:spcPts val="0"/>
              </a:spcBef>
              <a:spcAft>
                <a:spcPts val="0"/>
              </a:spcAft>
              <a:buClr>
                <a:schemeClr val="lt1"/>
              </a:buClr>
              <a:buSzPts val="800"/>
              <a:buChar char="●"/>
            </a:pPr>
            <a:r>
              <a:rPr lang="en" sz="800">
                <a:solidFill>
                  <a:schemeClr val="lt1"/>
                </a:solidFill>
              </a:rPr>
              <a:t>Latest qualification: High School, </a:t>
            </a:r>
            <a:r>
              <a:rPr lang="en" sz="800">
                <a:solidFill>
                  <a:schemeClr val="lt1"/>
                </a:solidFill>
              </a:rPr>
              <a:t>ET or Diploma, Bachelor Degree, Master Degree, PhD, Language Study, Others</a:t>
            </a:r>
            <a:endParaRPr sz="800">
              <a:solidFill>
                <a:schemeClr val="lt1"/>
              </a:solidFill>
            </a:endParaRPr>
          </a:p>
          <a:p>
            <a:pPr indent="-279400" lvl="0" marL="457200" rtl="0" algn="l">
              <a:lnSpc>
                <a:spcPct val="115000"/>
              </a:lnSpc>
              <a:spcBef>
                <a:spcPts val="0"/>
              </a:spcBef>
              <a:spcAft>
                <a:spcPts val="0"/>
              </a:spcAft>
              <a:buClr>
                <a:schemeClr val="lt1"/>
              </a:buClr>
              <a:buSzPts val="800"/>
              <a:buChar char="●"/>
            </a:pPr>
            <a:r>
              <a:rPr lang="en" sz="800">
                <a:solidFill>
                  <a:schemeClr val="lt1"/>
                </a:solidFill>
              </a:rPr>
              <a:t>Attach your most updated CV for assessment purposes prior to the consultation.</a:t>
            </a:r>
            <a:endParaRPr sz="800">
              <a:solidFill>
                <a:schemeClr val="lt1"/>
              </a:solidFill>
            </a:endParaRPr>
          </a:p>
        </p:txBody>
      </p:sp>
      <p:pic>
        <p:nvPicPr>
          <p:cNvPr id="82" name="Google Shape;82;p16" title="Screenshot 2025-09-10 at 19.21.16.png"/>
          <p:cNvPicPr preferRelativeResize="0"/>
          <p:nvPr/>
        </p:nvPicPr>
        <p:blipFill>
          <a:blip r:embed="rId3">
            <a:alphaModFix/>
          </a:blip>
          <a:stretch>
            <a:fillRect/>
          </a:stretch>
        </p:blipFill>
        <p:spPr>
          <a:xfrm>
            <a:off x="152400" y="857175"/>
            <a:ext cx="3341862" cy="4133926"/>
          </a:xfrm>
          <a:prstGeom prst="rect">
            <a:avLst/>
          </a:prstGeom>
          <a:noFill/>
          <a:ln>
            <a:noFill/>
          </a:ln>
          <a:effectLst>
            <a:outerShdw blurRad="57150" rotWithShape="0" algn="bl" dir="5400000" dist="19050">
              <a:srgbClr val="000000">
                <a:alpha val="50000"/>
              </a:srgbClr>
            </a:outerShdw>
          </a:effectLst>
        </p:spPr>
      </p:pic>
      <p:sp>
        <p:nvSpPr>
          <p:cNvPr id="83" name="Google Shape;83;p16"/>
          <p:cNvSpPr txBox="1"/>
          <p:nvPr/>
        </p:nvSpPr>
        <p:spPr>
          <a:xfrm>
            <a:off x="3943375" y="810100"/>
            <a:ext cx="3823500" cy="2967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rPr>
              <a:t>3. Step by step guidance with CTA button that links to Free Consultation Form.</a:t>
            </a:r>
            <a:endParaRPr sz="800">
              <a:solidFill>
                <a:schemeClr val="lt1"/>
              </a:solidFill>
            </a:endParaRPr>
          </a:p>
        </p:txBody>
      </p:sp>
      <p:sp>
        <p:nvSpPr>
          <p:cNvPr id="84" name="Rounded Rectangle 83"/>
          <p:cNvSpPr/>
          <p:nvPr/>
        </p:nvSpPr>
        <p:spPr>
          <a:xfrm>
            <a:off x="5669280" y="164592"/>
            <a:ext cx="3246120" cy="713232"/>
          </a:xfrm>
          <a:prstGeom prst="roundRect">
            <a:avLst/>
          </a:prstGeom>
          <a:solidFill>
            <a:srgbClr val="1E8E5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r>
              <a:rPr sz="1200" b="1">
                <a:solidFill>
                  <a:srgbClr val="FFFFFF"/>
                </a:solidFill>
              </a:rPr>
              <a:t>SELESAI (UI)</a:t>
            </a:r>
          </a:p>
          <a:p>
            <a:r>
              <a:rPr sz="850">
                <a:solidFill>
                  <a:srgbClr val="FFFFFF"/>
                </a:solidFill>
              </a:rPr>
              <a:t>Form lengkap di Home. Pengiriman ke backend belum</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1320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Home</a:t>
            </a:r>
            <a:endParaRPr b="1" sz="1800"/>
          </a:p>
        </p:txBody>
      </p:sp>
      <p:sp>
        <p:nvSpPr>
          <p:cNvPr id="89" name="Google Shape;89;p17"/>
          <p:cNvSpPr txBox="1"/>
          <p:nvPr/>
        </p:nvSpPr>
        <p:spPr>
          <a:xfrm>
            <a:off x="499150" y="1657796"/>
            <a:ext cx="3823500" cy="2925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rPr>
              <a:t>4. Study Abroad section using cards of different countries</a:t>
            </a:r>
            <a:endParaRPr sz="1800">
              <a:solidFill>
                <a:schemeClr val="dk2"/>
              </a:solidFill>
            </a:endParaRPr>
          </a:p>
        </p:txBody>
      </p:sp>
      <p:sp>
        <p:nvSpPr>
          <p:cNvPr id="90" name="Google Shape;90;p17"/>
          <p:cNvSpPr txBox="1"/>
          <p:nvPr/>
        </p:nvSpPr>
        <p:spPr>
          <a:xfrm>
            <a:off x="499150" y="2490111"/>
            <a:ext cx="3823500" cy="2925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rPr>
              <a:t>5. List of university partners logo</a:t>
            </a:r>
            <a:endParaRPr sz="800">
              <a:solidFill>
                <a:schemeClr val="lt1"/>
              </a:solidFill>
            </a:endParaRPr>
          </a:p>
        </p:txBody>
      </p:sp>
      <p:pic>
        <p:nvPicPr>
          <p:cNvPr id="91" name="Google Shape;91;p17" title="Screenshot 2025-09-10 at 12.04.34.png"/>
          <p:cNvPicPr preferRelativeResize="0"/>
          <p:nvPr/>
        </p:nvPicPr>
        <p:blipFill>
          <a:blip r:embed="rId3">
            <a:alphaModFix/>
          </a:blip>
          <a:stretch>
            <a:fillRect/>
          </a:stretch>
        </p:blipFill>
        <p:spPr>
          <a:xfrm>
            <a:off x="506788" y="630447"/>
            <a:ext cx="3641974" cy="981624"/>
          </a:xfrm>
          <a:prstGeom prst="rect">
            <a:avLst/>
          </a:prstGeom>
          <a:noFill/>
          <a:ln>
            <a:noFill/>
          </a:ln>
          <a:effectLst>
            <a:outerShdw blurRad="57150" rotWithShape="0" algn="bl" dir="5400000" dist="19050">
              <a:srgbClr val="000000">
                <a:alpha val="50000"/>
              </a:srgbClr>
            </a:outerShdw>
          </a:effectLst>
        </p:spPr>
      </p:pic>
      <p:pic>
        <p:nvPicPr>
          <p:cNvPr id="92" name="Google Shape;92;p17" title="Screenshot 2025-09-10 at 12.05.19.png"/>
          <p:cNvPicPr preferRelativeResize="0"/>
          <p:nvPr/>
        </p:nvPicPr>
        <p:blipFill>
          <a:blip r:embed="rId4">
            <a:alphaModFix/>
          </a:blip>
          <a:stretch>
            <a:fillRect/>
          </a:stretch>
        </p:blipFill>
        <p:spPr>
          <a:xfrm>
            <a:off x="746100" y="2014925"/>
            <a:ext cx="3329597" cy="464975"/>
          </a:xfrm>
          <a:prstGeom prst="rect">
            <a:avLst/>
          </a:prstGeom>
          <a:noFill/>
          <a:ln>
            <a:noFill/>
          </a:ln>
          <a:effectLst>
            <a:outerShdw blurRad="57150" rotWithShape="0" algn="bl" dir="5400000" dist="19050">
              <a:srgbClr val="000000">
                <a:alpha val="50000"/>
              </a:srgbClr>
            </a:outerShdw>
          </a:effectLst>
        </p:spPr>
      </p:pic>
      <p:pic>
        <p:nvPicPr>
          <p:cNvPr id="93" name="Google Shape;93;p17" title="Screenshot 2025-09-10 at 12.06.07.png"/>
          <p:cNvPicPr preferRelativeResize="0"/>
          <p:nvPr/>
        </p:nvPicPr>
        <p:blipFill>
          <a:blip r:embed="rId5">
            <a:alphaModFix/>
          </a:blip>
          <a:stretch>
            <a:fillRect/>
          </a:stretch>
        </p:blipFill>
        <p:spPr>
          <a:xfrm>
            <a:off x="548543" y="2816611"/>
            <a:ext cx="3599616" cy="1798050"/>
          </a:xfrm>
          <a:prstGeom prst="rect">
            <a:avLst/>
          </a:prstGeom>
          <a:noFill/>
          <a:ln>
            <a:noFill/>
          </a:ln>
          <a:effectLst>
            <a:outerShdw blurRad="57150" rotWithShape="0" algn="bl" dir="5400000" dist="19050">
              <a:srgbClr val="000000">
                <a:alpha val="50000"/>
              </a:srgbClr>
            </a:outerShdw>
          </a:effectLst>
        </p:spPr>
      </p:pic>
      <p:sp>
        <p:nvSpPr>
          <p:cNvPr id="94" name="Google Shape;94;p17"/>
          <p:cNvSpPr txBox="1"/>
          <p:nvPr/>
        </p:nvSpPr>
        <p:spPr>
          <a:xfrm>
            <a:off x="436600" y="4649561"/>
            <a:ext cx="3823500" cy="2925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rPr>
              <a:t>6. Browse our language program</a:t>
            </a:r>
            <a:endParaRPr sz="800">
              <a:solidFill>
                <a:schemeClr val="lt1"/>
              </a:solidFill>
            </a:endParaRPr>
          </a:p>
        </p:txBody>
      </p:sp>
      <p:pic>
        <p:nvPicPr>
          <p:cNvPr id="95" name="Google Shape;95;p17" title="Screenshot 2025-09-10 at 12.10.05.png"/>
          <p:cNvPicPr preferRelativeResize="0"/>
          <p:nvPr/>
        </p:nvPicPr>
        <p:blipFill>
          <a:blip r:embed="rId6">
            <a:alphaModFix/>
          </a:blip>
          <a:stretch>
            <a:fillRect/>
          </a:stretch>
        </p:blipFill>
        <p:spPr>
          <a:xfrm>
            <a:off x="4694475" y="365125"/>
            <a:ext cx="3965191" cy="2114774"/>
          </a:xfrm>
          <a:prstGeom prst="rect">
            <a:avLst/>
          </a:prstGeom>
          <a:noFill/>
          <a:ln>
            <a:noFill/>
          </a:ln>
          <a:effectLst>
            <a:outerShdw blurRad="57150" rotWithShape="0" algn="bl" dir="5400000" dist="19050">
              <a:srgbClr val="000000">
                <a:alpha val="50000"/>
              </a:srgbClr>
            </a:outerShdw>
          </a:effectLst>
        </p:spPr>
      </p:pic>
      <p:sp>
        <p:nvSpPr>
          <p:cNvPr id="96" name="Google Shape;96;p17"/>
          <p:cNvSpPr txBox="1"/>
          <p:nvPr/>
        </p:nvSpPr>
        <p:spPr>
          <a:xfrm>
            <a:off x="4728300" y="2571750"/>
            <a:ext cx="3823500" cy="2925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rPr>
              <a:t>7. Student testimonial</a:t>
            </a:r>
            <a:endParaRPr sz="800">
              <a:solidFill>
                <a:schemeClr val="lt1"/>
              </a:solidFill>
            </a:endParaRPr>
          </a:p>
        </p:txBody>
      </p:sp>
      <p:sp>
        <p:nvSpPr>
          <p:cNvPr id="97" name="Rounded Rectangle 96"/>
          <p:cNvSpPr/>
          <p:nvPr/>
        </p:nvSpPr>
        <p:spPr>
          <a:xfrm>
            <a:off x="5669280" y="164592"/>
            <a:ext cx="3246120" cy="713232"/>
          </a:xfrm>
          <a:prstGeom prst="roundRect">
            <a:avLst/>
          </a:prstGeom>
          <a:solidFill>
            <a:srgbClr val="C88A0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r>
              <a:rPr sz="1200" b="1">
                <a:solidFill>
                  <a:srgbClr val="FFFFFF"/>
                </a:solidFill>
              </a:rPr>
              <a:t>SEBAGIAN</a:t>
            </a:r>
          </a:p>
          <a:p>
            <a:r>
              <a:rPr sz="850">
                <a:solidFill>
                  <a:srgbClr val="FFFFFF"/>
                </a:solidFill>
              </a:rPr>
              <a:t>Kartu negara + testimoni OK. Logo partner &amp; katalog kursus belum</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311700" y="1320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About Us</a:t>
            </a:r>
            <a:endParaRPr b="1" sz="1800"/>
          </a:p>
        </p:txBody>
      </p:sp>
      <p:sp>
        <p:nvSpPr>
          <p:cNvPr id="102" name="Google Shape;102;p18"/>
          <p:cNvSpPr txBox="1"/>
          <p:nvPr/>
        </p:nvSpPr>
        <p:spPr>
          <a:xfrm>
            <a:off x="162975" y="561300"/>
            <a:ext cx="3084600" cy="31989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lt1"/>
                </a:solidFill>
              </a:rPr>
              <a:t>Our Story</a:t>
            </a:r>
            <a:endParaRPr sz="800">
              <a:solidFill>
                <a:schemeClr val="lt1"/>
              </a:solidFill>
            </a:endParaRPr>
          </a:p>
          <a:p>
            <a:pPr indent="0" lvl="0" marL="0" rtl="0" algn="ctr">
              <a:spcBef>
                <a:spcPts val="0"/>
              </a:spcBef>
              <a:spcAft>
                <a:spcPts val="0"/>
              </a:spcAft>
              <a:buNone/>
            </a:pPr>
            <a:r>
              <a:t/>
            </a:r>
            <a:endParaRPr sz="800">
              <a:solidFill>
                <a:schemeClr val="lt1"/>
              </a:solidFill>
            </a:endParaRPr>
          </a:p>
          <a:p>
            <a:pPr indent="0" lvl="0" marL="0" rtl="0" algn="l">
              <a:spcBef>
                <a:spcPts val="0"/>
              </a:spcBef>
              <a:spcAft>
                <a:spcPts val="0"/>
              </a:spcAft>
              <a:buNone/>
            </a:pPr>
            <a:r>
              <a:rPr lang="en" sz="800">
                <a:solidFill>
                  <a:schemeClr val="lt1"/>
                </a:solidFill>
              </a:rPr>
              <a:t>Welcome to ISTUDENTPLUS: Your Global Student Network and Media Agency!</a:t>
            </a:r>
            <a:endParaRPr sz="800">
              <a:solidFill>
                <a:schemeClr val="lt1"/>
              </a:solidFill>
            </a:endParaRPr>
          </a:p>
          <a:p>
            <a:pPr indent="0" lvl="0" marL="0" rtl="0" algn="l">
              <a:spcBef>
                <a:spcPts val="0"/>
              </a:spcBef>
              <a:spcAft>
                <a:spcPts val="0"/>
              </a:spcAft>
              <a:buNone/>
            </a:pPr>
            <a:r>
              <a:t/>
            </a:r>
            <a:endParaRPr sz="800">
              <a:solidFill>
                <a:schemeClr val="lt1"/>
              </a:solidFill>
            </a:endParaRPr>
          </a:p>
          <a:p>
            <a:pPr indent="0" lvl="0" marL="0" rtl="0" algn="l">
              <a:spcBef>
                <a:spcPts val="0"/>
              </a:spcBef>
              <a:spcAft>
                <a:spcPts val="0"/>
              </a:spcAft>
              <a:buNone/>
            </a:pPr>
            <a:r>
              <a:rPr lang="en" sz="800">
                <a:solidFill>
                  <a:schemeClr val="lt1"/>
                </a:solidFill>
              </a:rPr>
              <a:t>Our Mission: Promote inclusivity and empower students locally and internationally. We offer comprehensive support throughout their educational journey.</a:t>
            </a:r>
            <a:endParaRPr sz="800">
              <a:solidFill>
                <a:schemeClr val="lt1"/>
              </a:solidFill>
            </a:endParaRPr>
          </a:p>
          <a:p>
            <a:pPr indent="0" lvl="0" marL="0" rtl="0" algn="l">
              <a:spcBef>
                <a:spcPts val="0"/>
              </a:spcBef>
              <a:spcAft>
                <a:spcPts val="0"/>
              </a:spcAft>
              <a:buNone/>
            </a:pPr>
            <a:r>
              <a:t/>
            </a:r>
            <a:endParaRPr sz="800">
              <a:solidFill>
                <a:schemeClr val="lt1"/>
              </a:solidFill>
            </a:endParaRPr>
          </a:p>
          <a:p>
            <a:pPr indent="0" lvl="0" marL="0" rtl="0" algn="l">
              <a:spcBef>
                <a:spcPts val="0"/>
              </a:spcBef>
              <a:spcAft>
                <a:spcPts val="0"/>
              </a:spcAft>
              <a:buNone/>
            </a:pPr>
            <a:r>
              <a:rPr lang="en" sz="800">
                <a:solidFill>
                  <a:schemeClr val="lt1"/>
                </a:solidFill>
              </a:rPr>
              <a:t>Specialization: Assisting students with educational and migration needs, especially for studying in Australia. Offices in Australia and Indonesia provide easy access to services.</a:t>
            </a:r>
            <a:endParaRPr sz="800">
              <a:solidFill>
                <a:schemeClr val="lt1"/>
              </a:solidFill>
            </a:endParaRPr>
          </a:p>
          <a:p>
            <a:pPr indent="0" lvl="0" marL="0" rtl="0" algn="l">
              <a:spcBef>
                <a:spcPts val="0"/>
              </a:spcBef>
              <a:spcAft>
                <a:spcPts val="0"/>
              </a:spcAft>
              <a:buNone/>
            </a:pPr>
            <a:r>
              <a:t/>
            </a:r>
            <a:endParaRPr sz="800">
              <a:solidFill>
                <a:schemeClr val="lt1"/>
              </a:solidFill>
            </a:endParaRPr>
          </a:p>
          <a:p>
            <a:pPr indent="0" lvl="0" marL="0" rtl="0" algn="l">
              <a:spcBef>
                <a:spcPts val="0"/>
              </a:spcBef>
              <a:spcAft>
                <a:spcPts val="0"/>
              </a:spcAft>
              <a:buNone/>
            </a:pPr>
            <a:r>
              <a:rPr lang="en" sz="800">
                <a:solidFill>
                  <a:schemeClr val="lt1"/>
                </a:solidFill>
              </a:rPr>
              <a:t>Holistic Support: Personal guidance from language  preparation,  application/ enrollment,  visa,  accommodation assistance, and more for a nurturing student experience.</a:t>
            </a:r>
            <a:endParaRPr sz="800">
              <a:solidFill>
                <a:schemeClr val="lt1"/>
              </a:solidFill>
            </a:endParaRPr>
          </a:p>
          <a:p>
            <a:pPr indent="0" lvl="0" marL="0" rtl="0" algn="l">
              <a:spcBef>
                <a:spcPts val="0"/>
              </a:spcBef>
              <a:spcAft>
                <a:spcPts val="0"/>
              </a:spcAft>
              <a:buNone/>
            </a:pPr>
            <a:r>
              <a:t/>
            </a:r>
            <a:endParaRPr sz="800">
              <a:solidFill>
                <a:schemeClr val="lt1"/>
              </a:solidFill>
            </a:endParaRPr>
          </a:p>
          <a:p>
            <a:pPr indent="0" lvl="0" marL="0" rtl="0" algn="l">
              <a:spcBef>
                <a:spcPts val="0"/>
              </a:spcBef>
              <a:spcAft>
                <a:spcPts val="0"/>
              </a:spcAft>
              <a:buNone/>
            </a:pPr>
            <a:r>
              <a:rPr lang="en" sz="800">
                <a:solidFill>
                  <a:schemeClr val="lt1"/>
                </a:solidFill>
              </a:rPr>
              <a:t>Services Offered: Expert visa guidance, English language courses, short-term study programs, and collaboration with top educational institutions.</a:t>
            </a:r>
            <a:endParaRPr sz="800">
              <a:solidFill>
                <a:schemeClr val="lt1"/>
              </a:solidFill>
            </a:endParaRPr>
          </a:p>
          <a:p>
            <a:pPr indent="0" lvl="0" marL="0" rtl="0" algn="l">
              <a:spcBef>
                <a:spcPts val="0"/>
              </a:spcBef>
              <a:spcAft>
                <a:spcPts val="0"/>
              </a:spcAft>
              <a:buNone/>
            </a:pPr>
            <a:r>
              <a:t/>
            </a:r>
            <a:endParaRPr sz="800">
              <a:solidFill>
                <a:schemeClr val="lt1"/>
              </a:solidFill>
            </a:endParaRPr>
          </a:p>
          <a:p>
            <a:pPr indent="0" lvl="0" marL="0" rtl="0" algn="l">
              <a:spcBef>
                <a:spcPts val="0"/>
              </a:spcBef>
              <a:spcAft>
                <a:spcPts val="0"/>
              </a:spcAft>
              <a:buNone/>
            </a:pPr>
            <a:r>
              <a:rPr lang="en" sz="800">
                <a:solidFill>
                  <a:schemeClr val="lt1"/>
                </a:solidFill>
              </a:rPr>
              <a:t>Join Our Community: Be part of a supportive network committed to your success. Connect with us for a transformative educational journey with ISTUDENTPLUS.</a:t>
            </a:r>
            <a:endParaRPr sz="800">
              <a:solidFill>
                <a:schemeClr val="lt1"/>
              </a:solidFill>
            </a:endParaRPr>
          </a:p>
        </p:txBody>
      </p:sp>
      <p:pic>
        <p:nvPicPr>
          <p:cNvPr id="103" name="Google Shape;103;p18" title="Screenshot 2025-09-10 at 20.04.40.png"/>
          <p:cNvPicPr preferRelativeResize="0"/>
          <p:nvPr/>
        </p:nvPicPr>
        <p:blipFill>
          <a:blip r:embed="rId3">
            <a:alphaModFix/>
          </a:blip>
          <a:stretch>
            <a:fillRect/>
          </a:stretch>
        </p:blipFill>
        <p:spPr>
          <a:xfrm>
            <a:off x="162975" y="3807725"/>
            <a:ext cx="3243976" cy="1013750"/>
          </a:xfrm>
          <a:prstGeom prst="rect">
            <a:avLst/>
          </a:prstGeom>
          <a:noFill/>
          <a:ln>
            <a:noFill/>
          </a:ln>
        </p:spPr>
      </p:pic>
      <p:pic>
        <p:nvPicPr>
          <p:cNvPr id="104" name="Google Shape;104;p18" title="Screenshot 2025-09-10 at 20.05.10.png"/>
          <p:cNvPicPr preferRelativeResize="0"/>
          <p:nvPr/>
        </p:nvPicPr>
        <p:blipFill>
          <a:blip r:embed="rId4">
            <a:alphaModFix/>
          </a:blip>
          <a:stretch>
            <a:fillRect/>
          </a:stretch>
        </p:blipFill>
        <p:spPr>
          <a:xfrm>
            <a:off x="3474050" y="330125"/>
            <a:ext cx="3120850" cy="2241626"/>
          </a:xfrm>
          <a:prstGeom prst="rect">
            <a:avLst/>
          </a:prstGeom>
          <a:noFill/>
          <a:ln>
            <a:noFill/>
          </a:ln>
          <a:effectLst>
            <a:outerShdw blurRad="57150" rotWithShape="0" algn="bl" dir="5400000" dist="19050">
              <a:srgbClr val="000000">
                <a:alpha val="50000"/>
              </a:srgbClr>
            </a:outerShdw>
          </a:effectLst>
        </p:spPr>
      </p:pic>
      <p:pic>
        <p:nvPicPr>
          <p:cNvPr id="105" name="Google Shape;105;p18" title="Screenshot 2025-09-10 at 12.08.12.png"/>
          <p:cNvPicPr preferRelativeResize="0"/>
          <p:nvPr/>
        </p:nvPicPr>
        <p:blipFill>
          <a:blip r:embed="rId5">
            <a:alphaModFix/>
          </a:blip>
          <a:stretch>
            <a:fillRect/>
          </a:stretch>
        </p:blipFill>
        <p:spPr>
          <a:xfrm>
            <a:off x="5538125" y="2778900"/>
            <a:ext cx="3340524" cy="748665"/>
          </a:xfrm>
          <a:prstGeom prst="rect">
            <a:avLst/>
          </a:prstGeom>
          <a:noFill/>
          <a:ln>
            <a:noFill/>
          </a:ln>
          <a:effectLst>
            <a:outerShdw blurRad="57150" rotWithShape="0" algn="bl" dir="5400000" dist="19050">
              <a:srgbClr val="000000">
                <a:alpha val="50000"/>
              </a:srgbClr>
            </a:outerShdw>
          </a:effectLst>
        </p:spPr>
      </p:pic>
      <p:sp>
        <p:nvSpPr>
          <p:cNvPr id="106" name="Google Shape;106;p18"/>
          <p:cNvSpPr txBox="1"/>
          <p:nvPr/>
        </p:nvSpPr>
        <p:spPr>
          <a:xfrm>
            <a:off x="6594900" y="3527575"/>
            <a:ext cx="1553400" cy="2931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lt1"/>
                </a:solidFill>
              </a:rPr>
              <a:t>Our certification</a:t>
            </a:r>
            <a:endParaRPr sz="800">
              <a:solidFill>
                <a:schemeClr val="lt1"/>
              </a:solidFill>
            </a:endParaRPr>
          </a:p>
        </p:txBody>
      </p:sp>
      <p:pic>
        <p:nvPicPr>
          <p:cNvPr id="107" name="Google Shape;107;p18" title="Screenshot 2025-09-10 at 20.12.07.png"/>
          <p:cNvPicPr preferRelativeResize="0"/>
          <p:nvPr/>
        </p:nvPicPr>
        <p:blipFill>
          <a:blip r:embed="rId6">
            <a:alphaModFix/>
          </a:blip>
          <a:stretch>
            <a:fillRect/>
          </a:stretch>
        </p:blipFill>
        <p:spPr>
          <a:xfrm>
            <a:off x="3474050" y="2726126"/>
            <a:ext cx="1804864" cy="2241625"/>
          </a:xfrm>
          <a:prstGeom prst="rect">
            <a:avLst/>
          </a:prstGeom>
          <a:noFill/>
          <a:ln>
            <a:noFill/>
          </a:ln>
          <a:effectLst>
            <a:outerShdw blurRad="57150" rotWithShape="0" algn="bl" dir="5400000" dist="19050">
              <a:srgbClr val="000000">
                <a:alpha val="50000"/>
              </a:srgbClr>
            </a:outerShdw>
          </a:effectLst>
        </p:spPr>
      </p:pic>
      <p:sp>
        <p:nvSpPr>
          <p:cNvPr id="108" name="Rounded Rectangle 107"/>
          <p:cNvSpPr/>
          <p:nvPr/>
        </p:nvSpPr>
        <p:spPr>
          <a:xfrm>
            <a:off x="5669280" y="164592"/>
            <a:ext cx="3246120" cy="713232"/>
          </a:xfrm>
          <a:prstGeom prst="roundRect">
            <a:avLst/>
          </a:prstGeom>
          <a:solidFill>
            <a:srgbClr val="1E8E5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r>
              <a:rPr sz="1200" b="1">
                <a:solidFill>
                  <a:srgbClr val="FFFFFF"/>
                </a:solidFill>
              </a:rPr>
              <a:t>SELESAI</a:t>
            </a:r>
          </a:p>
          <a:p>
            <a:r>
              <a:rPr sz="850">
                <a:solidFill>
                  <a:srgbClr val="FFFFFF"/>
                </a:solidFill>
              </a:rPr>
              <a:t>Story, Vision/Mission, sertifikasi QEAC/ISEAA terpasang</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title"/>
          </p:nvPr>
        </p:nvSpPr>
        <p:spPr>
          <a:xfrm>
            <a:off x="311700" y="1320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About Us</a:t>
            </a:r>
            <a:endParaRPr b="1" sz="1800"/>
          </a:p>
        </p:txBody>
      </p:sp>
      <p:sp>
        <p:nvSpPr>
          <p:cNvPr id="113" name="Google Shape;113;p19"/>
          <p:cNvSpPr txBox="1"/>
          <p:nvPr/>
        </p:nvSpPr>
        <p:spPr>
          <a:xfrm>
            <a:off x="1790275" y="261950"/>
            <a:ext cx="3178500" cy="47079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lt1"/>
                </a:solidFill>
              </a:rPr>
              <a:t>Our Team</a:t>
            </a:r>
            <a:endParaRPr sz="800">
              <a:solidFill>
                <a:schemeClr val="lt1"/>
              </a:solidFill>
            </a:endParaRPr>
          </a:p>
          <a:p>
            <a:pPr indent="0" lvl="0" marL="0" rtl="0" algn="ctr">
              <a:spcBef>
                <a:spcPts val="0"/>
              </a:spcBef>
              <a:spcAft>
                <a:spcPts val="0"/>
              </a:spcAft>
              <a:buNone/>
            </a:pPr>
            <a:r>
              <a:t/>
            </a:r>
            <a:endParaRPr sz="800">
              <a:solidFill>
                <a:schemeClr val="lt1"/>
              </a:solidFill>
            </a:endParaRPr>
          </a:p>
          <a:p>
            <a:pPr indent="0" lvl="0" marL="0" rtl="0" algn="l">
              <a:spcBef>
                <a:spcPts val="0"/>
              </a:spcBef>
              <a:spcAft>
                <a:spcPts val="0"/>
              </a:spcAft>
              <a:buNone/>
            </a:pPr>
            <a:r>
              <a:rPr lang="en" sz="800">
                <a:solidFill>
                  <a:schemeClr val="lt1"/>
                </a:solidFill>
              </a:rPr>
              <a:t>Cindy Christella - CEO &amp; Education Consultant</a:t>
            </a:r>
            <a:endParaRPr sz="800">
              <a:solidFill>
                <a:schemeClr val="lt1"/>
              </a:solidFill>
            </a:endParaRPr>
          </a:p>
          <a:p>
            <a:pPr indent="0" lvl="0" marL="0" rtl="0" algn="l">
              <a:spcBef>
                <a:spcPts val="0"/>
              </a:spcBef>
              <a:spcAft>
                <a:spcPts val="0"/>
              </a:spcAft>
              <a:buNone/>
            </a:pPr>
            <a:r>
              <a:t/>
            </a:r>
            <a:endParaRPr sz="800">
              <a:solidFill>
                <a:schemeClr val="lt1"/>
              </a:solidFill>
            </a:endParaRPr>
          </a:p>
          <a:p>
            <a:pPr indent="0" lvl="0" marL="0" rtl="0" algn="l">
              <a:spcBef>
                <a:spcPts val="0"/>
              </a:spcBef>
              <a:spcAft>
                <a:spcPts val="0"/>
              </a:spcAft>
              <a:buNone/>
            </a:pPr>
            <a:r>
              <a:rPr lang="en" sz="800">
                <a:solidFill>
                  <a:schemeClr val="lt1"/>
                </a:solidFill>
              </a:rPr>
              <a:t>Please provide 1-2 paragraphs of your expertise and experience here</a:t>
            </a:r>
            <a:endParaRPr sz="800">
              <a:solidFill>
                <a:schemeClr val="lt1"/>
              </a:solidFill>
            </a:endParaRPr>
          </a:p>
          <a:p>
            <a:pPr indent="0" lvl="0" marL="0" rtl="0" algn="l">
              <a:spcBef>
                <a:spcPts val="0"/>
              </a:spcBef>
              <a:spcAft>
                <a:spcPts val="0"/>
              </a:spcAft>
              <a:buNone/>
            </a:pPr>
            <a:r>
              <a:t/>
            </a:r>
            <a:endParaRPr sz="800">
              <a:solidFill>
                <a:schemeClr val="lt1"/>
              </a:solidFill>
            </a:endParaRPr>
          </a:p>
          <a:p>
            <a:pPr indent="0" lvl="0" marL="0" rtl="0" algn="l">
              <a:spcBef>
                <a:spcPts val="0"/>
              </a:spcBef>
              <a:spcAft>
                <a:spcPts val="0"/>
              </a:spcAft>
              <a:buNone/>
            </a:pPr>
            <a:r>
              <a:t/>
            </a:r>
            <a:endParaRPr sz="800">
              <a:solidFill>
                <a:schemeClr val="lt1"/>
              </a:solidFill>
            </a:endParaRPr>
          </a:p>
        </p:txBody>
      </p:sp>
      <p:sp>
        <p:nvSpPr>
          <p:cNvPr id="114" name="Google Shape;114;p19"/>
          <p:cNvSpPr/>
          <p:nvPr/>
        </p:nvSpPr>
        <p:spPr>
          <a:xfrm>
            <a:off x="2349500" y="2991300"/>
            <a:ext cx="1993500" cy="1823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Please provide photo</a:t>
            </a:r>
            <a:endParaRPr sz="1000"/>
          </a:p>
        </p:txBody>
      </p:sp>
      <p:sp>
        <p:nvSpPr>
          <p:cNvPr id="115" name="Google Shape;115;p19"/>
          <p:cNvSpPr txBox="1"/>
          <p:nvPr/>
        </p:nvSpPr>
        <p:spPr>
          <a:xfrm>
            <a:off x="5145775" y="276878"/>
            <a:ext cx="3302700" cy="47079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lt1"/>
                </a:solidFill>
              </a:rPr>
              <a:t>Our Team</a:t>
            </a:r>
            <a:endParaRPr sz="800">
              <a:solidFill>
                <a:schemeClr val="lt1"/>
              </a:solidFill>
            </a:endParaRPr>
          </a:p>
          <a:p>
            <a:pPr indent="0" lvl="0" marL="0" rtl="0" algn="ctr">
              <a:spcBef>
                <a:spcPts val="0"/>
              </a:spcBef>
              <a:spcAft>
                <a:spcPts val="0"/>
              </a:spcAft>
              <a:buNone/>
            </a:pPr>
            <a:r>
              <a:t/>
            </a:r>
            <a:endParaRPr sz="800">
              <a:solidFill>
                <a:schemeClr val="lt1"/>
              </a:solidFill>
            </a:endParaRPr>
          </a:p>
          <a:p>
            <a:pPr indent="0" lvl="0" marL="0" rtl="0" algn="l">
              <a:spcBef>
                <a:spcPts val="0"/>
              </a:spcBef>
              <a:spcAft>
                <a:spcPts val="0"/>
              </a:spcAft>
              <a:buNone/>
            </a:pPr>
            <a:r>
              <a:rPr lang="en" sz="800">
                <a:solidFill>
                  <a:schemeClr val="lt1"/>
                </a:solidFill>
              </a:rPr>
              <a:t>Nur Fadillah  - Education Consultant</a:t>
            </a:r>
            <a:endParaRPr sz="800">
              <a:solidFill>
                <a:schemeClr val="lt1"/>
              </a:solidFill>
            </a:endParaRPr>
          </a:p>
          <a:p>
            <a:pPr indent="0" lvl="0" marL="0" rtl="0" algn="l">
              <a:spcBef>
                <a:spcPts val="0"/>
              </a:spcBef>
              <a:spcAft>
                <a:spcPts val="0"/>
              </a:spcAft>
              <a:buNone/>
            </a:pPr>
            <a:r>
              <a:t/>
            </a:r>
            <a:endParaRPr sz="800">
              <a:solidFill>
                <a:schemeClr val="lt1"/>
              </a:solidFill>
            </a:endParaRPr>
          </a:p>
          <a:p>
            <a:pPr indent="0" lvl="0" marL="0" rtl="0" algn="l">
              <a:spcBef>
                <a:spcPts val="0"/>
              </a:spcBef>
              <a:spcAft>
                <a:spcPts val="0"/>
              </a:spcAft>
              <a:buClr>
                <a:schemeClr val="dk1"/>
              </a:buClr>
              <a:buSzPts val="1100"/>
              <a:buFont typeface="Arial"/>
              <a:buNone/>
            </a:pPr>
            <a:r>
              <a:rPr lang="en" sz="800">
                <a:solidFill>
                  <a:schemeClr val="lt1"/>
                </a:solidFill>
              </a:rPr>
              <a:t>I am an Education Consultant with more than two years of experience assisting international students in choosing the right study pathways abroad. My role includes providing personalized guidance on course selection, visa processes, and applications to educational institutions, ensuring that students receive the best options aligned with their academic and career goals. I have a strong understanding of international education systems and student visa regulations, which enables me to deliver accurate and practical advice.</a:t>
            </a:r>
            <a:endParaRPr sz="800">
              <a:solidFill>
                <a:schemeClr val="lt1"/>
              </a:solidFill>
            </a:endParaRPr>
          </a:p>
          <a:p>
            <a:pPr indent="0" lvl="0" marL="0" rtl="0" algn="l">
              <a:spcBef>
                <a:spcPts val="0"/>
              </a:spcBef>
              <a:spcAft>
                <a:spcPts val="0"/>
              </a:spcAft>
              <a:buClr>
                <a:schemeClr val="dk1"/>
              </a:buClr>
              <a:buSzPts val="1100"/>
              <a:buFont typeface="Arial"/>
              <a:buNone/>
            </a:pPr>
            <a:r>
              <a:rPr lang="en" sz="800">
                <a:solidFill>
                  <a:schemeClr val="lt1"/>
                </a:solidFill>
              </a:rPr>
              <a:t>During my career at iStudentPlus, I have successfully supported students from diverse backgrounds, maintained effective communication with partner institutions, and ensured smooth application processes. My strengths lie in attention to detail, problem-solving, and the ability to build trusted relationships with students, partner institutions, and other related parties. I am passionate about education and committed to helping students achieve their goals through professional guidance and quality support.</a:t>
            </a:r>
            <a:endParaRPr sz="800">
              <a:solidFill>
                <a:schemeClr val="lt1"/>
              </a:solidFill>
            </a:endParaRPr>
          </a:p>
          <a:p>
            <a:pPr indent="0" lvl="0" marL="0" rtl="0" algn="l">
              <a:spcBef>
                <a:spcPts val="0"/>
              </a:spcBef>
              <a:spcAft>
                <a:spcPts val="0"/>
              </a:spcAft>
              <a:buClr>
                <a:schemeClr val="dk1"/>
              </a:buClr>
              <a:buSzPts val="1100"/>
              <a:buFont typeface="Arial"/>
              <a:buNone/>
            </a:pPr>
            <a:r>
              <a:t/>
            </a:r>
            <a:endParaRPr sz="800">
              <a:solidFill>
                <a:schemeClr val="lt1"/>
              </a:solidFill>
            </a:endParaRPr>
          </a:p>
          <a:p>
            <a:pPr indent="0" lvl="0" marL="0" rtl="0" algn="l">
              <a:spcBef>
                <a:spcPts val="0"/>
              </a:spcBef>
              <a:spcAft>
                <a:spcPts val="0"/>
              </a:spcAft>
              <a:buNone/>
            </a:pPr>
            <a:r>
              <a:t/>
            </a:r>
            <a:endParaRPr sz="800">
              <a:solidFill>
                <a:schemeClr val="lt1"/>
              </a:solidFill>
            </a:endParaRPr>
          </a:p>
        </p:txBody>
      </p:sp>
      <p:pic>
        <p:nvPicPr>
          <p:cNvPr id="116" name="Google Shape;116;p19" title="FOTOKU.jpg"/>
          <p:cNvPicPr preferRelativeResize="0"/>
          <p:nvPr/>
        </p:nvPicPr>
        <p:blipFill rotWithShape="1">
          <a:blip r:embed="rId3">
            <a:alphaModFix/>
          </a:blip>
          <a:srcRect b="0" l="0" r="0" t="28254"/>
          <a:stretch/>
        </p:blipFill>
        <p:spPr>
          <a:xfrm>
            <a:off x="5762375" y="3047975"/>
            <a:ext cx="1906200" cy="1823400"/>
          </a:xfrm>
          <a:prstGeom prst="ellipse">
            <a:avLst/>
          </a:prstGeom>
          <a:noFill/>
          <a:ln>
            <a:noFill/>
          </a:ln>
        </p:spPr>
      </p:pic>
      <p:sp>
        <p:nvSpPr>
          <p:cNvPr id="117" name="Rounded Rectangle 116"/>
          <p:cNvSpPr/>
          <p:nvPr/>
        </p:nvSpPr>
        <p:spPr>
          <a:xfrm>
            <a:off x="5669280" y="164592"/>
            <a:ext cx="3246120" cy="713232"/>
          </a:xfrm>
          <a:prstGeom prst="roundRect">
            <a:avLst/>
          </a:prstGeom>
          <a:solidFill>
            <a:srgbClr val="C88A0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r>
              <a:rPr sz="1200" b="1">
                <a:solidFill>
                  <a:srgbClr val="FFFFFF"/>
                </a:solidFill>
              </a:rPr>
              <a:t>SEBAGIAN</a:t>
            </a:r>
          </a:p>
          <a:p>
            <a:r>
              <a:rPr sz="850">
                <a:solidFill>
                  <a:srgbClr val="FFFFFF"/>
                </a:solidFill>
              </a:rPr>
              <a:t>Nur Fadillah OK. Menunggu foto+bio Cindy dari tim</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0"/>
          <p:cNvSpPr txBox="1"/>
          <p:nvPr>
            <p:ph type="title"/>
          </p:nvPr>
        </p:nvSpPr>
        <p:spPr>
          <a:xfrm>
            <a:off x="311700" y="1320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Study Abroad</a:t>
            </a:r>
            <a:endParaRPr b="1" sz="1800"/>
          </a:p>
        </p:txBody>
      </p:sp>
      <p:sp>
        <p:nvSpPr>
          <p:cNvPr id="122" name="Google Shape;122;p20"/>
          <p:cNvSpPr txBox="1"/>
          <p:nvPr/>
        </p:nvSpPr>
        <p:spPr>
          <a:xfrm>
            <a:off x="113298" y="486535"/>
            <a:ext cx="3351900" cy="3072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lt1"/>
                </a:solidFill>
              </a:rPr>
              <a:t>Look from sub menu</a:t>
            </a:r>
            <a:endParaRPr sz="800">
              <a:solidFill>
                <a:schemeClr val="lt1"/>
              </a:solidFill>
            </a:endParaRPr>
          </a:p>
        </p:txBody>
      </p:sp>
      <p:sp>
        <p:nvSpPr>
          <p:cNvPr id="123" name="Google Shape;123;p20"/>
          <p:cNvSpPr txBox="1"/>
          <p:nvPr/>
        </p:nvSpPr>
        <p:spPr>
          <a:xfrm>
            <a:off x="3778350" y="486525"/>
            <a:ext cx="5116200" cy="6678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rPr>
              <a:t>Each country page consists of information such as</a:t>
            </a:r>
            <a:endParaRPr sz="800">
              <a:solidFill>
                <a:schemeClr val="lt1"/>
              </a:solidFill>
            </a:endParaRPr>
          </a:p>
          <a:p>
            <a:pPr indent="-279400" lvl="0" marL="457200" rtl="0" algn="l">
              <a:spcBef>
                <a:spcPts val="0"/>
              </a:spcBef>
              <a:spcAft>
                <a:spcPts val="0"/>
              </a:spcAft>
              <a:buClr>
                <a:schemeClr val="lt1"/>
              </a:buClr>
              <a:buSzPts val="800"/>
              <a:buChar char="●"/>
            </a:pPr>
            <a:r>
              <a:rPr lang="en" sz="800">
                <a:solidFill>
                  <a:schemeClr val="lt1"/>
                </a:solidFill>
              </a:rPr>
              <a:t>Why study in that country</a:t>
            </a:r>
            <a:endParaRPr sz="800">
              <a:solidFill>
                <a:schemeClr val="lt1"/>
              </a:solidFill>
            </a:endParaRPr>
          </a:p>
          <a:p>
            <a:pPr indent="-279400" lvl="0" marL="457200" rtl="0" algn="l">
              <a:spcBef>
                <a:spcPts val="0"/>
              </a:spcBef>
              <a:spcAft>
                <a:spcPts val="0"/>
              </a:spcAft>
              <a:buClr>
                <a:schemeClr val="lt1"/>
              </a:buClr>
              <a:buSzPts val="800"/>
              <a:buChar char="●"/>
            </a:pPr>
            <a:r>
              <a:rPr lang="en" sz="800">
                <a:solidFill>
                  <a:schemeClr val="lt1"/>
                </a:solidFill>
              </a:rPr>
              <a:t>Top courses or type of qualification  &gt;&gt; linked to Courses and Universities page for more list</a:t>
            </a:r>
            <a:endParaRPr sz="800">
              <a:solidFill>
                <a:schemeClr val="lt1"/>
              </a:solidFill>
            </a:endParaRPr>
          </a:p>
          <a:p>
            <a:pPr indent="-279400" lvl="0" marL="457200" rtl="0" algn="l">
              <a:spcBef>
                <a:spcPts val="0"/>
              </a:spcBef>
              <a:spcAft>
                <a:spcPts val="0"/>
              </a:spcAft>
              <a:buClr>
                <a:schemeClr val="lt1"/>
              </a:buClr>
              <a:buSzPts val="800"/>
              <a:buChar char="●"/>
            </a:pPr>
            <a:r>
              <a:rPr lang="en" sz="800">
                <a:solidFill>
                  <a:schemeClr val="lt1"/>
                </a:solidFill>
              </a:rPr>
              <a:t>Overview of living cost, career orientation, admission process, accommodation, culture and lifestyle</a:t>
            </a:r>
            <a:endParaRPr sz="800">
              <a:solidFill>
                <a:schemeClr val="lt1"/>
              </a:solidFill>
            </a:endParaRPr>
          </a:p>
        </p:txBody>
      </p:sp>
      <p:pic>
        <p:nvPicPr>
          <p:cNvPr id="124" name="Google Shape;124;p20" title="Screenshot 2025-09-10 at 19.33.03.png"/>
          <p:cNvPicPr preferRelativeResize="0"/>
          <p:nvPr/>
        </p:nvPicPr>
        <p:blipFill>
          <a:blip r:embed="rId3">
            <a:alphaModFix/>
          </a:blip>
          <a:stretch>
            <a:fillRect/>
          </a:stretch>
        </p:blipFill>
        <p:spPr>
          <a:xfrm>
            <a:off x="311688" y="745625"/>
            <a:ext cx="3054474" cy="1449675"/>
          </a:xfrm>
          <a:prstGeom prst="rect">
            <a:avLst/>
          </a:prstGeom>
          <a:noFill/>
          <a:ln>
            <a:noFill/>
          </a:ln>
          <a:effectLst>
            <a:outerShdw blurRad="57150" rotWithShape="0" algn="bl" dir="5400000" dist="19050">
              <a:srgbClr val="000000">
                <a:alpha val="50000"/>
              </a:srgbClr>
            </a:outerShdw>
          </a:effectLst>
        </p:spPr>
      </p:pic>
      <p:pic>
        <p:nvPicPr>
          <p:cNvPr id="125" name="Google Shape;125;p20" title="Screenshot 2025-09-10 at 19.38.16.png"/>
          <p:cNvPicPr preferRelativeResize="0"/>
          <p:nvPr/>
        </p:nvPicPr>
        <p:blipFill>
          <a:blip r:embed="rId4">
            <a:alphaModFix/>
          </a:blip>
          <a:stretch>
            <a:fillRect/>
          </a:stretch>
        </p:blipFill>
        <p:spPr>
          <a:xfrm>
            <a:off x="191700" y="2317811"/>
            <a:ext cx="3082051" cy="1974439"/>
          </a:xfrm>
          <a:prstGeom prst="rect">
            <a:avLst/>
          </a:prstGeom>
          <a:noFill/>
          <a:ln>
            <a:noFill/>
          </a:ln>
          <a:effectLst>
            <a:outerShdw blurRad="57150" rotWithShape="0" algn="bl" dir="5400000" dist="19050">
              <a:srgbClr val="000000">
                <a:alpha val="50000"/>
              </a:srgbClr>
            </a:outerShdw>
          </a:effectLst>
        </p:spPr>
      </p:pic>
      <p:pic>
        <p:nvPicPr>
          <p:cNvPr id="126" name="Google Shape;126;p20" title="Screenshot 2025-09-10 at 19.42.59.png"/>
          <p:cNvPicPr preferRelativeResize="0"/>
          <p:nvPr/>
        </p:nvPicPr>
        <p:blipFill>
          <a:blip r:embed="rId5">
            <a:alphaModFix/>
          </a:blip>
          <a:stretch>
            <a:fillRect/>
          </a:stretch>
        </p:blipFill>
        <p:spPr>
          <a:xfrm>
            <a:off x="3465199" y="1263171"/>
            <a:ext cx="2798049" cy="1536450"/>
          </a:xfrm>
          <a:prstGeom prst="rect">
            <a:avLst/>
          </a:prstGeom>
          <a:noFill/>
          <a:ln>
            <a:noFill/>
          </a:ln>
        </p:spPr>
      </p:pic>
      <p:pic>
        <p:nvPicPr>
          <p:cNvPr id="127" name="Google Shape;127;p20" title="Screenshot 2025-09-10 at 19.53.12.png"/>
          <p:cNvPicPr preferRelativeResize="0"/>
          <p:nvPr/>
        </p:nvPicPr>
        <p:blipFill>
          <a:blip r:embed="rId6">
            <a:alphaModFix/>
          </a:blip>
          <a:stretch>
            <a:fillRect/>
          </a:stretch>
        </p:blipFill>
        <p:spPr>
          <a:xfrm>
            <a:off x="6391400" y="1263175"/>
            <a:ext cx="2503148" cy="1488694"/>
          </a:xfrm>
          <a:prstGeom prst="rect">
            <a:avLst/>
          </a:prstGeom>
          <a:noFill/>
          <a:ln>
            <a:noFill/>
          </a:ln>
          <a:effectLst>
            <a:outerShdw blurRad="57150" rotWithShape="0" algn="bl" dir="5400000" dist="19050">
              <a:srgbClr val="000000">
                <a:alpha val="50000"/>
              </a:srgbClr>
            </a:outerShdw>
          </a:effectLst>
        </p:spPr>
      </p:pic>
      <p:pic>
        <p:nvPicPr>
          <p:cNvPr id="128" name="Google Shape;128;p20" title="Screenshot 2025-09-10 at 19.54.14.png"/>
          <p:cNvPicPr preferRelativeResize="0"/>
          <p:nvPr/>
        </p:nvPicPr>
        <p:blipFill>
          <a:blip r:embed="rId7">
            <a:alphaModFix/>
          </a:blip>
          <a:stretch>
            <a:fillRect/>
          </a:stretch>
        </p:blipFill>
        <p:spPr>
          <a:xfrm>
            <a:off x="3530923" y="2863444"/>
            <a:ext cx="2202764" cy="2086829"/>
          </a:xfrm>
          <a:prstGeom prst="rect">
            <a:avLst/>
          </a:prstGeom>
          <a:noFill/>
          <a:ln>
            <a:noFill/>
          </a:ln>
          <a:effectLst>
            <a:outerShdw blurRad="57150" rotWithShape="0" algn="bl" dir="5400000" dist="19050">
              <a:srgbClr val="000000">
                <a:alpha val="50000"/>
              </a:srgbClr>
            </a:outerShdw>
          </a:effectLst>
        </p:spPr>
      </p:pic>
      <p:pic>
        <p:nvPicPr>
          <p:cNvPr id="129" name="Google Shape;129;p20" title="Screenshot 2025-09-10 at 19.55.53.png"/>
          <p:cNvPicPr preferRelativeResize="0"/>
          <p:nvPr/>
        </p:nvPicPr>
        <p:blipFill>
          <a:blip r:embed="rId8">
            <a:alphaModFix/>
          </a:blip>
          <a:stretch>
            <a:fillRect/>
          </a:stretch>
        </p:blipFill>
        <p:spPr>
          <a:xfrm>
            <a:off x="6170698" y="2860719"/>
            <a:ext cx="2404316" cy="2086832"/>
          </a:xfrm>
          <a:prstGeom prst="rect">
            <a:avLst/>
          </a:prstGeom>
          <a:noFill/>
          <a:ln>
            <a:noFill/>
          </a:ln>
          <a:effectLst>
            <a:outerShdw blurRad="57150" rotWithShape="0" algn="bl" dir="5400000" dist="19050">
              <a:srgbClr val="000000">
                <a:alpha val="50000"/>
              </a:srgbClr>
            </a:outerShdw>
          </a:effectLst>
        </p:spPr>
      </p:pic>
      <p:sp>
        <p:nvSpPr>
          <p:cNvPr id="130" name="Rounded Rectangle 129"/>
          <p:cNvSpPr/>
          <p:nvPr/>
        </p:nvSpPr>
        <p:spPr>
          <a:xfrm>
            <a:off x="5669280" y="164592"/>
            <a:ext cx="3246120" cy="713232"/>
          </a:xfrm>
          <a:prstGeom prst="roundRect">
            <a:avLst/>
          </a:prstGeom>
          <a:solidFill>
            <a:srgbClr val="C88A0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r>
              <a:rPr sz="1200" b="1">
                <a:solidFill>
                  <a:srgbClr val="FFFFFF"/>
                </a:solidFill>
              </a:rPr>
              <a:t>SEBAGIAN</a:t>
            </a:r>
          </a:p>
          <a:p>
            <a:r>
              <a:rPr sz="850">
                <a:solidFill>
                  <a:srgbClr val="FFFFFF"/>
                </a:solidFill>
              </a:rPr>
              <a:t>6 halaman negara live. Australia lengkap; negara lain ringkas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311700" y="1320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Services</a:t>
            </a:r>
            <a:endParaRPr b="1" sz="1800"/>
          </a:p>
        </p:txBody>
      </p:sp>
      <p:sp>
        <p:nvSpPr>
          <p:cNvPr id="135" name="Google Shape;135;p21"/>
          <p:cNvSpPr txBox="1"/>
          <p:nvPr/>
        </p:nvSpPr>
        <p:spPr>
          <a:xfrm>
            <a:off x="192750" y="765450"/>
            <a:ext cx="4089000" cy="1327800"/>
          </a:xfrm>
          <a:prstGeom prst="rect">
            <a:avLst/>
          </a:prstGeom>
          <a:solidFill>
            <a:schemeClr val="accent3"/>
          </a:solidFill>
          <a:ln>
            <a:noFill/>
          </a:ln>
        </p:spPr>
        <p:txBody>
          <a:bodyPr anchorCtr="0" anchor="t" bIns="91425" lIns="91425" spcFirstLastPara="1" rIns="91425" wrap="square" tIns="91425">
            <a:noAutofit/>
          </a:bodyPr>
          <a:lstStyle/>
          <a:p>
            <a:pPr indent="0" lvl="0" marL="457200" rtl="0" algn="ctr">
              <a:spcBef>
                <a:spcPts val="0"/>
              </a:spcBef>
              <a:spcAft>
                <a:spcPts val="0"/>
              </a:spcAft>
              <a:buNone/>
            </a:pPr>
            <a:r>
              <a:rPr b="1" lang="en" sz="800">
                <a:solidFill>
                  <a:schemeClr val="lt1"/>
                </a:solidFill>
              </a:rPr>
              <a:t> Admission Counselling</a:t>
            </a:r>
            <a:endParaRPr b="1"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Service Overview: Explain how counseling helps students choose the right country, program, and university aligned with their career goals.</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Step-by-Step Guidance: Outline the admission process (course matching → application → offer letter).</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Why Choose Us: Emphasize personalized 1:1 counseling vs. generic agencies.</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FAQs Section: Common questions like “What documents are required?” / “When should I start applying?”</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CTA: “Book a Free Consultation Today.”</a:t>
            </a:r>
            <a:endParaRPr sz="800">
              <a:solidFill>
                <a:schemeClr val="lt1"/>
              </a:solidFill>
            </a:endParaRPr>
          </a:p>
          <a:p>
            <a:pPr indent="-279400" lvl="0" marL="457200" rtl="0" algn="l">
              <a:spcBef>
                <a:spcPts val="0"/>
              </a:spcBef>
              <a:spcAft>
                <a:spcPts val="0"/>
              </a:spcAft>
              <a:buClr>
                <a:schemeClr val="lt1"/>
              </a:buClr>
              <a:buSzPts val="800"/>
              <a:buAutoNum type="arabicPeriod"/>
            </a:pPr>
            <a:r>
              <a:t/>
            </a:r>
            <a:endParaRPr sz="800">
              <a:solidFill>
                <a:schemeClr val="lt1"/>
              </a:solidFill>
            </a:endParaRPr>
          </a:p>
        </p:txBody>
      </p:sp>
      <p:pic>
        <p:nvPicPr>
          <p:cNvPr id="136" name="Google Shape;136;p21" title="Screenshot 2025-09-10 at 21.03.49.png"/>
          <p:cNvPicPr preferRelativeResize="0"/>
          <p:nvPr/>
        </p:nvPicPr>
        <p:blipFill>
          <a:blip r:embed="rId3">
            <a:alphaModFix/>
          </a:blip>
          <a:stretch>
            <a:fillRect/>
          </a:stretch>
        </p:blipFill>
        <p:spPr>
          <a:xfrm>
            <a:off x="192750" y="2311025"/>
            <a:ext cx="4041352" cy="1979224"/>
          </a:xfrm>
          <a:prstGeom prst="rect">
            <a:avLst/>
          </a:prstGeom>
          <a:noFill/>
          <a:ln>
            <a:noFill/>
          </a:ln>
          <a:effectLst>
            <a:outerShdw blurRad="57150" rotWithShape="0" algn="bl" dir="5400000" dist="19050">
              <a:srgbClr val="000000">
                <a:alpha val="50000"/>
              </a:srgbClr>
            </a:outerShdw>
          </a:effectLst>
        </p:spPr>
      </p:pic>
      <p:sp>
        <p:nvSpPr>
          <p:cNvPr id="137" name="Google Shape;137;p21"/>
          <p:cNvSpPr txBox="1"/>
          <p:nvPr/>
        </p:nvSpPr>
        <p:spPr>
          <a:xfrm>
            <a:off x="4669525" y="636125"/>
            <a:ext cx="4509900" cy="1442700"/>
          </a:xfrm>
          <a:prstGeom prst="rect">
            <a:avLst/>
          </a:prstGeom>
          <a:solidFill>
            <a:schemeClr val="accent3"/>
          </a:solidFill>
          <a:ln>
            <a:noFill/>
          </a:ln>
        </p:spPr>
        <p:txBody>
          <a:bodyPr anchorCtr="0" anchor="t" bIns="91425" lIns="91425" spcFirstLastPara="1" rIns="91425" wrap="square" tIns="91425">
            <a:noAutofit/>
          </a:bodyPr>
          <a:lstStyle/>
          <a:p>
            <a:pPr indent="0" lvl="0" marL="457200" rtl="0" algn="ctr">
              <a:spcBef>
                <a:spcPts val="0"/>
              </a:spcBef>
              <a:spcAft>
                <a:spcPts val="0"/>
              </a:spcAft>
              <a:buNone/>
            </a:pPr>
            <a:r>
              <a:rPr b="1" lang="en" sz="800">
                <a:solidFill>
                  <a:schemeClr val="lt1"/>
                </a:solidFill>
              </a:rPr>
              <a:t>Visa &amp; Admission</a:t>
            </a:r>
            <a:endParaRPr b="1"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Visa Process Made Easy: Simple explanation of application flow for Australia, Japan, etc.</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Checklist Download: Provide a PDF checklist of required documents (email capture opportunity).</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Common Pitfalls to Avoid: e.g., incomplete forms, insufficient funds proof, etc.</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Assistance Coverage: Detail which visa types you cover (student, dependent, graduate).</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Success Rate / Case Examples: Numbers or stories showing smooth approvals.</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CTA: “Talk to Our Visa Expert.”</a:t>
            </a:r>
            <a:endParaRPr sz="800">
              <a:solidFill>
                <a:schemeClr val="lt1"/>
              </a:solidFill>
            </a:endParaRPr>
          </a:p>
        </p:txBody>
      </p:sp>
      <p:pic>
        <p:nvPicPr>
          <p:cNvPr id="138" name="Google Shape;138;p21" title="Screenshot 2025-09-10 at 21.05.23.png"/>
          <p:cNvPicPr preferRelativeResize="0"/>
          <p:nvPr/>
        </p:nvPicPr>
        <p:blipFill>
          <a:blip r:embed="rId4">
            <a:alphaModFix/>
          </a:blip>
          <a:stretch>
            <a:fillRect/>
          </a:stretch>
        </p:blipFill>
        <p:spPr>
          <a:xfrm>
            <a:off x="4768100" y="2405400"/>
            <a:ext cx="4202450" cy="2600650"/>
          </a:xfrm>
          <a:prstGeom prst="rect">
            <a:avLst/>
          </a:prstGeom>
          <a:noFill/>
          <a:ln>
            <a:noFill/>
          </a:ln>
          <a:effectLst>
            <a:outerShdw blurRad="57150" rotWithShape="0" algn="bl" dir="5400000" dist="19050">
              <a:srgbClr val="000000">
                <a:alpha val="50000"/>
              </a:srgbClr>
            </a:outerShdw>
          </a:effectLst>
        </p:spPr>
      </p:pic>
      <p:sp>
        <p:nvSpPr>
          <p:cNvPr id="139" name="Rounded Rectangle 138"/>
          <p:cNvSpPr/>
          <p:nvPr/>
        </p:nvSpPr>
        <p:spPr>
          <a:xfrm>
            <a:off x="5669280" y="164592"/>
            <a:ext cx="3246120" cy="713232"/>
          </a:xfrm>
          <a:prstGeom prst="roundRect">
            <a:avLst/>
          </a:prstGeom>
          <a:solidFill>
            <a:srgbClr val="1E8E5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r>
              <a:rPr sz="1200" b="1">
                <a:solidFill>
                  <a:srgbClr val="FFFFFF"/>
                </a:solidFill>
              </a:rPr>
              <a:t>SELESAI</a:t>
            </a:r>
          </a:p>
          <a:p>
            <a:r>
              <a:rPr sz="850">
                <a:solidFill>
                  <a:srgbClr val="FFFFFF"/>
                </a:solidFill>
              </a:rPr>
              <a:t>6 layanan visa + IMMagine/Middow + FAQ accordion. PDF checklist belum</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ph type="title"/>
          </p:nvPr>
        </p:nvSpPr>
        <p:spPr>
          <a:xfrm>
            <a:off x="311700" y="1320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Services (same as Language </a:t>
            </a:r>
            <a:r>
              <a:rPr b="1" lang="en" sz="1800"/>
              <a:t>Programs Webpage</a:t>
            </a:r>
            <a:r>
              <a:rPr b="1" lang="en" sz="1800"/>
              <a:t>)</a:t>
            </a:r>
            <a:endParaRPr b="1" sz="1800"/>
          </a:p>
        </p:txBody>
      </p:sp>
      <p:sp>
        <p:nvSpPr>
          <p:cNvPr id="144" name="Google Shape;144;p22"/>
          <p:cNvSpPr txBox="1"/>
          <p:nvPr/>
        </p:nvSpPr>
        <p:spPr>
          <a:xfrm>
            <a:off x="355125" y="540876"/>
            <a:ext cx="4216800" cy="892500"/>
          </a:xfrm>
          <a:prstGeom prst="rect">
            <a:avLst/>
          </a:prstGeom>
          <a:solidFill>
            <a:schemeClr val="accent3"/>
          </a:solidFill>
          <a:ln>
            <a:noFill/>
          </a:ln>
        </p:spPr>
        <p:txBody>
          <a:bodyPr anchorCtr="0" anchor="t" bIns="91425" lIns="91425" spcFirstLastPara="1" rIns="91425" wrap="square" tIns="91425">
            <a:noAutofit/>
          </a:bodyPr>
          <a:lstStyle/>
          <a:p>
            <a:pPr indent="0" lvl="0" marL="457200" rtl="0" algn="ctr">
              <a:spcBef>
                <a:spcPts val="0"/>
              </a:spcBef>
              <a:spcAft>
                <a:spcPts val="0"/>
              </a:spcAft>
              <a:buNone/>
            </a:pPr>
            <a:r>
              <a:rPr b="1" lang="en" sz="800">
                <a:solidFill>
                  <a:schemeClr val="lt1"/>
                </a:solidFill>
              </a:rPr>
              <a:t>Language Test Preparation </a:t>
            </a:r>
            <a:endParaRPr b="1"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Course Overview: IELTS, JLPT, Conversation Class – short descriptions.</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Teaching Method: Small group, online option, mock test support.</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Schedule &amp; Flexibility: Highlight time options (evening/weekend).</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Student testimonial</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Teacher profile</a:t>
            </a:r>
            <a:endParaRPr sz="800">
              <a:solidFill>
                <a:schemeClr val="lt1"/>
              </a:solidFill>
            </a:endParaRPr>
          </a:p>
          <a:p>
            <a:pPr indent="0" lvl="0" marL="0" rtl="0" algn="l">
              <a:spcBef>
                <a:spcPts val="0"/>
              </a:spcBef>
              <a:spcAft>
                <a:spcPts val="0"/>
              </a:spcAft>
              <a:buNone/>
            </a:pPr>
            <a:r>
              <a:t/>
            </a:r>
            <a:endParaRPr sz="800">
              <a:solidFill>
                <a:schemeClr val="lt1"/>
              </a:solidFill>
            </a:endParaRPr>
          </a:p>
        </p:txBody>
      </p:sp>
      <p:pic>
        <p:nvPicPr>
          <p:cNvPr id="145" name="Google Shape;145;p22" title="Screenshot 2025-09-10 at 21.44.06.png"/>
          <p:cNvPicPr preferRelativeResize="0"/>
          <p:nvPr/>
        </p:nvPicPr>
        <p:blipFill rotWithShape="1">
          <a:blip r:embed="rId3">
            <a:alphaModFix/>
          </a:blip>
          <a:srcRect b="1942" l="0" r="0" t="0"/>
          <a:stretch/>
        </p:blipFill>
        <p:spPr>
          <a:xfrm>
            <a:off x="651900" y="1563625"/>
            <a:ext cx="3854351" cy="2053925"/>
          </a:xfrm>
          <a:prstGeom prst="rect">
            <a:avLst/>
          </a:prstGeom>
          <a:noFill/>
          <a:ln>
            <a:noFill/>
          </a:ln>
        </p:spPr>
      </p:pic>
      <p:pic>
        <p:nvPicPr>
          <p:cNvPr id="146" name="Google Shape;146;p22" title="Screenshot 2025-09-10 at 12.06.07.png"/>
          <p:cNvPicPr preferRelativeResize="0"/>
          <p:nvPr/>
        </p:nvPicPr>
        <p:blipFill>
          <a:blip r:embed="rId4">
            <a:alphaModFix/>
          </a:blip>
          <a:stretch>
            <a:fillRect/>
          </a:stretch>
        </p:blipFill>
        <p:spPr>
          <a:xfrm>
            <a:off x="4720425" y="574300"/>
            <a:ext cx="4111877" cy="2053931"/>
          </a:xfrm>
          <a:prstGeom prst="rect">
            <a:avLst/>
          </a:prstGeom>
          <a:noFill/>
          <a:ln>
            <a:noFill/>
          </a:ln>
          <a:effectLst>
            <a:outerShdw blurRad="57150" rotWithShape="0" algn="bl" dir="5400000" dist="19050">
              <a:srgbClr val="000000">
                <a:alpha val="50000"/>
              </a:srgbClr>
            </a:outerShdw>
          </a:effectLst>
        </p:spPr>
      </p:pic>
      <p:pic>
        <p:nvPicPr>
          <p:cNvPr id="147" name="Google Shape;147;p22" title="Screenshot 2025-09-11 at 09.59.09.png"/>
          <p:cNvPicPr preferRelativeResize="0"/>
          <p:nvPr/>
        </p:nvPicPr>
        <p:blipFill rotWithShape="1">
          <a:blip r:embed="rId5">
            <a:alphaModFix/>
          </a:blip>
          <a:srcRect b="8826" l="0" r="0" t="0"/>
          <a:stretch/>
        </p:blipFill>
        <p:spPr>
          <a:xfrm>
            <a:off x="959350" y="3617550"/>
            <a:ext cx="2981724" cy="1253101"/>
          </a:xfrm>
          <a:prstGeom prst="rect">
            <a:avLst/>
          </a:prstGeom>
          <a:noFill/>
          <a:ln>
            <a:noFill/>
          </a:ln>
          <a:effectLst>
            <a:outerShdw blurRad="57150" rotWithShape="0" algn="bl" dir="5400000" dist="19050">
              <a:srgbClr val="000000">
                <a:alpha val="50000"/>
              </a:srgbClr>
            </a:outerShdw>
          </a:effectLst>
        </p:spPr>
      </p:pic>
      <p:pic>
        <p:nvPicPr>
          <p:cNvPr id="148" name="Google Shape;148;p22" title="Screenshot 2025-09-11 at 10.03.25.png"/>
          <p:cNvPicPr preferRelativeResize="0"/>
          <p:nvPr/>
        </p:nvPicPr>
        <p:blipFill rotWithShape="1">
          <a:blip r:embed="rId6">
            <a:alphaModFix/>
          </a:blip>
          <a:srcRect b="15297" l="0" r="0" t="0"/>
          <a:stretch/>
        </p:blipFill>
        <p:spPr>
          <a:xfrm>
            <a:off x="4849675" y="2815800"/>
            <a:ext cx="3657051" cy="2401823"/>
          </a:xfrm>
          <a:prstGeom prst="rect">
            <a:avLst/>
          </a:prstGeom>
          <a:noFill/>
          <a:ln>
            <a:noFill/>
          </a:ln>
          <a:effectLst>
            <a:outerShdw blurRad="57150" rotWithShape="0" algn="bl" dir="5400000" dist="19050">
              <a:srgbClr val="000000">
                <a:alpha val="50000"/>
              </a:srgbClr>
            </a:outerShdw>
          </a:effectLst>
        </p:spPr>
      </p:pic>
      <p:sp>
        <p:nvSpPr>
          <p:cNvPr id="149" name="Rounded Rectangle 148"/>
          <p:cNvSpPr/>
          <p:nvPr/>
        </p:nvSpPr>
        <p:spPr>
          <a:xfrm>
            <a:off x="5669280" y="164592"/>
            <a:ext cx="3246120" cy="713232"/>
          </a:xfrm>
          <a:prstGeom prst="roundRect">
            <a:avLst/>
          </a:prstGeom>
          <a:solidFill>
            <a:srgbClr val="1E8E5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r>
              <a:rPr sz="1200" b="1">
                <a:solidFill>
                  <a:srgbClr val="FFFFFF"/>
                </a:solidFill>
              </a:rPr>
              <a:t>SELESAI</a:t>
            </a:r>
          </a:p>
          <a:p>
            <a:r>
              <a:rPr sz="850">
                <a:solidFill>
                  <a:srgbClr val="FFFFFF"/>
                </a:solidFill>
              </a:rPr>
              <a:t>Data kursus asli + profil 4 pengajar terpasang</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type="title"/>
          </p:nvPr>
        </p:nvSpPr>
        <p:spPr>
          <a:xfrm>
            <a:off x="311700" y="1320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Courses &amp; Universities</a:t>
            </a:r>
            <a:endParaRPr b="1" sz="1800"/>
          </a:p>
        </p:txBody>
      </p:sp>
      <p:sp>
        <p:nvSpPr>
          <p:cNvPr id="154" name="Google Shape;154;p23"/>
          <p:cNvSpPr txBox="1"/>
          <p:nvPr/>
        </p:nvSpPr>
        <p:spPr>
          <a:xfrm>
            <a:off x="355125" y="629325"/>
            <a:ext cx="4216800" cy="1538700"/>
          </a:xfrm>
          <a:prstGeom prst="rect">
            <a:avLst/>
          </a:prstGeom>
          <a:solidFill>
            <a:schemeClr val="accent3"/>
          </a:solidFill>
          <a:ln>
            <a:noFill/>
          </a:ln>
        </p:spPr>
        <p:txBody>
          <a:bodyPr anchorCtr="0" anchor="t" bIns="91425" lIns="91425" spcFirstLastPara="1" rIns="91425" wrap="square" tIns="91425">
            <a:noAutofit/>
          </a:bodyPr>
          <a:lstStyle/>
          <a:p>
            <a:pPr indent="-279400" lvl="0" marL="457200" rtl="0" algn="l">
              <a:spcBef>
                <a:spcPts val="0"/>
              </a:spcBef>
              <a:spcAft>
                <a:spcPts val="0"/>
              </a:spcAft>
              <a:buClr>
                <a:schemeClr val="lt1"/>
              </a:buClr>
              <a:buSzPts val="800"/>
              <a:buAutoNum type="arabicPeriod"/>
            </a:pPr>
            <a:r>
              <a:rPr lang="en" sz="800">
                <a:solidFill>
                  <a:schemeClr val="lt1"/>
                </a:solidFill>
              </a:rPr>
              <a:t>An overview of difference between Vocation and Diploma, Bachelor Degree, Master Degree and PhD, Language Study, and Exchange Program</a:t>
            </a:r>
            <a:endParaRPr sz="800">
              <a:solidFill>
                <a:schemeClr val="lt1"/>
              </a:solidFill>
            </a:endParaRPr>
          </a:p>
          <a:p>
            <a:pPr indent="-279400" lvl="1" marL="914400" rtl="0" algn="l">
              <a:spcBef>
                <a:spcPts val="0"/>
              </a:spcBef>
              <a:spcAft>
                <a:spcPts val="0"/>
              </a:spcAft>
              <a:buClr>
                <a:schemeClr val="lt1"/>
              </a:buClr>
              <a:buSzPts val="800"/>
              <a:buAutoNum type="alphaLcPeriod"/>
            </a:pPr>
            <a:r>
              <a:rPr lang="en" sz="800">
                <a:solidFill>
                  <a:schemeClr val="lt1"/>
                </a:solidFill>
              </a:rPr>
              <a:t>Benefits i.e.VET is, benefits (hands-on learning, fast entry to workforce). </a:t>
            </a:r>
            <a:endParaRPr sz="800">
              <a:solidFill>
                <a:schemeClr val="lt1"/>
              </a:solidFill>
            </a:endParaRPr>
          </a:p>
          <a:p>
            <a:pPr indent="-279400" lvl="1" marL="914400" rtl="0" algn="l">
              <a:spcBef>
                <a:spcPts val="0"/>
              </a:spcBef>
              <a:spcAft>
                <a:spcPts val="0"/>
              </a:spcAft>
              <a:buClr>
                <a:schemeClr val="lt1"/>
              </a:buClr>
              <a:buSzPts val="800"/>
              <a:buAutoNum type="alphaLcPeriod"/>
            </a:pPr>
            <a:r>
              <a:rPr lang="en" sz="800">
                <a:solidFill>
                  <a:schemeClr val="lt1"/>
                </a:solidFill>
              </a:rPr>
              <a:t>Emphasize career advancement, research, and migration pathways.</a:t>
            </a:r>
            <a:endParaRPr sz="800">
              <a:solidFill>
                <a:schemeClr val="lt1"/>
              </a:solidFill>
            </a:endParaRPr>
          </a:p>
          <a:p>
            <a:pPr indent="-279400" lvl="1" marL="914400" rtl="0" algn="l">
              <a:spcBef>
                <a:spcPts val="0"/>
              </a:spcBef>
              <a:spcAft>
                <a:spcPts val="0"/>
              </a:spcAft>
              <a:buClr>
                <a:schemeClr val="lt1"/>
              </a:buClr>
              <a:buSzPts val="800"/>
              <a:buAutoNum type="alphaLcPeriod"/>
            </a:pPr>
            <a:r>
              <a:rPr lang="en" sz="800">
                <a:solidFill>
                  <a:schemeClr val="lt1"/>
                </a:solidFill>
              </a:rPr>
              <a:t>Popular fields among Indonesian students: For Bachelors are Business, Engineering, IT, Health. For VET/Diploma are: Hospitality, IT, Business, Design.</a:t>
            </a:r>
            <a:endParaRPr sz="800">
              <a:solidFill>
                <a:schemeClr val="lt1"/>
              </a:solidFill>
            </a:endParaRPr>
          </a:p>
          <a:p>
            <a:pPr indent="-279400" lvl="1" marL="914400" rtl="0" algn="l">
              <a:spcBef>
                <a:spcPts val="0"/>
              </a:spcBef>
              <a:spcAft>
                <a:spcPts val="0"/>
              </a:spcAft>
              <a:buClr>
                <a:schemeClr val="lt1"/>
              </a:buClr>
              <a:buSzPts val="800"/>
              <a:buAutoNum type="alphaLcPeriod"/>
            </a:pPr>
            <a:r>
              <a:rPr lang="en" sz="800">
                <a:solidFill>
                  <a:schemeClr val="lt1"/>
                </a:solidFill>
              </a:rPr>
              <a:t>Length of Study</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Show filters so students can view the relevant courses and universities such as qualification, country, study field, </a:t>
            </a:r>
            <a:endParaRPr sz="800">
              <a:solidFill>
                <a:schemeClr val="lt1"/>
              </a:solidFill>
            </a:endParaRPr>
          </a:p>
        </p:txBody>
      </p:sp>
      <p:pic>
        <p:nvPicPr>
          <p:cNvPr id="155" name="Google Shape;155;p23" title="Screenshot 2025-09-11 at 09.26.49.png"/>
          <p:cNvPicPr preferRelativeResize="0"/>
          <p:nvPr/>
        </p:nvPicPr>
        <p:blipFill>
          <a:blip r:embed="rId3">
            <a:alphaModFix/>
          </a:blip>
          <a:stretch>
            <a:fillRect/>
          </a:stretch>
        </p:blipFill>
        <p:spPr>
          <a:xfrm>
            <a:off x="4866825" y="187700"/>
            <a:ext cx="3472952" cy="2028150"/>
          </a:xfrm>
          <a:prstGeom prst="rect">
            <a:avLst/>
          </a:prstGeom>
          <a:noFill/>
          <a:ln>
            <a:noFill/>
          </a:ln>
          <a:effectLst>
            <a:outerShdw blurRad="57150" rotWithShape="0" algn="bl" dir="5400000" dist="19050">
              <a:srgbClr val="000000">
                <a:alpha val="50000"/>
              </a:srgbClr>
            </a:outerShdw>
          </a:effectLst>
        </p:spPr>
      </p:pic>
      <p:pic>
        <p:nvPicPr>
          <p:cNvPr id="156" name="Google Shape;156;p23"/>
          <p:cNvPicPr preferRelativeResize="0"/>
          <p:nvPr/>
        </p:nvPicPr>
        <p:blipFill>
          <a:blip r:embed="rId4">
            <a:alphaModFix/>
          </a:blip>
          <a:stretch>
            <a:fillRect/>
          </a:stretch>
        </p:blipFill>
        <p:spPr>
          <a:xfrm>
            <a:off x="355125" y="2215850"/>
            <a:ext cx="2303300" cy="2761800"/>
          </a:xfrm>
          <a:prstGeom prst="rect">
            <a:avLst/>
          </a:prstGeom>
          <a:noFill/>
          <a:ln>
            <a:noFill/>
          </a:ln>
        </p:spPr>
      </p:pic>
      <p:pic>
        <p:nvPicPr>
          <p:cNvPr id="157" name="Google Shape;157;p23" title="Screenshot 2025-09-11 at 09.33.44.png"/>
          <p:cNvPicPr preferRelativeResize="0"/>
          <p:nvPr/>
        </p:nvPicPr>
        <p:blipFill rotWithShape="1">
          <a:blip r:embed="rId5">
            <a:alphaModFix/>
          </a:blip>
          <a:srcRect b="37040" l="0" r="0" t="0"/>
          <a:stretch/>
        </p:blipFill>
        <p:spPr>
          <a:xfrm>
            <a:off x="4801900" y="2471100"/>
            <a:ext cx="3602800" cy="2378151"/>
          </a:xfrm>
          <a:prstGeom prst="rect">
            <a:avLst/>
          </a:prstGeom>
          <a:noFill/>
          <a:ln>
            <a:noFill/>
          </a:ln>
          <a:effectLst>
            <a:outerShdw blurRad="57150" rotWithShape="0" algn="bl" dir="5400000" dist="19050">
              <a:srgbClr val="000000">
                <a:alpha val="50000"/>
              </a:srgbClr>
            </a:outerShdw>
          </a:effectLst>
        </p:spPr>
      </p:pic>
      <p:pic>
        <p:nvPicPr>
          <p:cNvPr id="158" name="Google Shape;158;p23"/>
          <p:cNvPicPr preferRelativeResize="0"/>
          <p:nvPr/>
        </p:nvPicPr>
        <p:blipFill>
          <a:blip r:embed="rId6">
            <a:alphaModFix/>
          </a:blip>
          <a:stretch>
            <a:fillRect/>
          </a:stretch>
        </p:blipFill>
        <p:spPr>
          <a:xfrm>
            <a:off x="2798825" y="2215850"/>
            <a:ext cx="1600949" cy="2846150"/>
          </a:xfrm>
          <a:prstGeom prst="rect">
            <a:avLst/>
          </a:prstGeom>
          <a:noFill/>
          <a:ln>
            <a:noFill/>
          </a:ln>
        </p:spPr>
      </p:pic>
      <p:sp>
        <p:nvSpPr>
          <p:cNvPr id="159" name="Rounded Rectangle 158"/>
          <p:cNvSpPr/>
          <p:nvPr/>
        </p:nvSpPr>
        <p:spPr>
          <a:xfrm>
            <a:off x="5669280" y="164592"/>
            <a:ext cx="3246120" cy="713232"/>
          </a:xfrm>
          <a:prstGeom prst="roundRect">
            <a:avLst/>
          </a:prstGeom>
          <a:solidFill>
            <a:srgbClr val="C88A0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r>
              <a:rPr sz="1200" b="1">
                <a:solidFill>
                  <a:srgbClr val="FFFFFF"/>
                </a:solidFill>
              </a:rPr>
              <a:t>SEBAGIAN</a:t>
            </a:r>
          </a:p>
          <a:p>
            <a:r>
              <a:rPr sz="850">
                <a:solidFill>
                  <a:srgbClr val="FFFFFF"/>
                </a:solidFill>
              </a:rPr>
              <a:t>Overview kualifikasi + filter UI. Database universitas live belum</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4"/>
          <p:cNvSpPr txBox="1"/>
          <p:nvPr>
            <p:ph type="title"/>
          </p:nvPr>
        </p:nvSpPr>
        <p:spPr>
          <a:xfrm>
            <a:off x="311700" y="1320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Blog</a:t>
            </a:r>
            <a:endParaRPr b="1" sz="1800"/>
          </a:p>
        </p:txBody>
      </p:sp>
      <p:sp>
        <p:nvSpPr>
          <p:cNvPr id="164" name="Google Shape;164;p24"/>
          <p:cNvSpPr txBox="1"/>
          <p:nvPr/>
        </p:nvSpPr>
        <p:spPr>
          <a:xfrm>
            <a:off x="355125" y="629325"/>
            <a:ext cx="4216800" cy="7767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rPr>
              <a:t>Categories (using filter):</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Recent News – updates on scholarships, partner universities, policy changes.</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Immigration – visa updates, regulations, step-by-step guides.</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Student Life – lifestyle tips, cultural adjustment, alumni stories.</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Study Tips – exam prep, language hacks, productivity guides.</a:t>
            </a:r>
            <a:endParaRPr sz="800">
              <a:solidFill>
                <a:schemeClr val="lt1"/>
              </a:solidFill>
            </a:endParaRPr>
          </a:p>
          <a:p>
            <a:pPr indent="0" lvl="0" marL="457200" rtl="0" algn="l">
              <a:spcBef>
                <a:spcPts val="0"/>
              </a:spcBef>
              <a:spcAft>
                <a:spcPts val="0"/>
              </a:spcAft>
              <a:buNone/>
            </a:pPr>
            <a:r>
              <a:t/>
            </a:r>
            <a:endParaRPr sz="800">
              <a:solidFill>
                <a:schemeClr val="lt1"/>
              </a:solidFill>
            </a:endParaRPr>
          </a:p>
        </p:txBody>
      </p:sp>
      <p:pic>
        <p:nvPicPr>
          <p:cNvPr id="165" name="Google Shape;165;p24" title="Screenshot 2025-09-11 at 10.14.31.png"/>
          <p:cNvPicPr preferRelativeResize="0"/>
          <p:nvPr/>
        </p:nvPicPr>
        <p:blipFill>
          <a:blip r:embed="rId3">
            <a:alphaModFix/>
          </a:blip>
          <a:stretch>
            <a:fillRect/>
          </a:stretch>
        </p:blipFill>
        <p:spPr>
          <a:xfrm>
            <a:off x="498250" y="1406025"/>
            <a:ext cx="3774125" cy="3829948"/>
          </a:xfrm>
          <a:prstGeom prst="rect">
            <a:avLst/>
          </a:prstGeom>
          <a:noFill/>
          <a:ln>
            <a:noFill/>
          </a:ln>
          <a:effectLst>
            <a:outerShdw blurRad="57150" rotWithShape="0" algn="bl" dir="5400000" dist="19050">
              <a:srgbClr val="000000">
                <a:alpha val="50000"/>
              </a:srgbClr>
            </a:outerShdw>
          </a:effectLst>
        </p:spPr>
      </p:pic>
      <p:pic>
        <p:nvPicPr>
          <p:cNvPr id="166" name="Google Shape;166;p24" title="Screenshot 2025-09-11 at 10.15.54.png"/>
          <p:cNvPicPr preferRelativeResize="0"/>
          <p:nvPr/>
        </p:nvPicPr>
        <p:blipFill>
          <a:blip r:embed="rId4">
            <a:alphaModFix/>
          </a:blip>
          <a:stretch>
            <a:fillRect/>
          </a:stretch>
        </p:blipFill>
        <p:spPr>
          <a:xfrm>
            <a:off x="5203109" y="132075"/>
            <a:ext cx="3395931" cy="5143500"/>
          </a:xfrm>
          <a:prstGeom prst="rect">
            <a:avLst/>
          </a:prstGeom>
          <a:noFill/>
          <a:ln>
            <a:noFill/>
          </a:ln>
          <a:effectLst>
            <a:outerShdw blurRad="57150" rotWithShape="0" algn="bl" dir="5400000" dist="19050">
              <a:srgbClr val="000000">
                <a:alpha val="50000"/>
              </a:srgbClr>
            </a:outerShdw>
          </a:effectLst>
        </p:spPr>
      </p:pic>
      <p:sp>
        <p:nvSpPr>
          <p:cNvPr id="167" name="Rounded Rectangle 166"/>
          <p:cNvSpPr/>
          <p:nvPr/>
        </p:nvSpPr>
        <p:spPr>
          <a:xfrm>
            <a:off x="5669280" y="164592"/>
            <a:ext cx="3246120" cy="713232"/>
          </a:xfrm>
          <a:prstGeom prst="roundRect">
            <a:avLst/>
          </a:prstGeom>
          <a:solidFill>
            <a:srgbClr val="C88A0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r>
              <a:rPr sz="1200" b="1">
                <a:solidFill>
                  <a:srgbClr val="FFFFFF"/>
                </a:solidFill>
              </a:rPr>
              <a:t>SEBAGIAN</a:t>
            </a:r>
          </a:p>
          <a:p>
            <a:r>
              <a:rPr sz="850">
                <a:solidFill>
                  <a:srgbClr val="FFFFFF"/>
                </a:solidFill>
              </a:rPr>
              <a:t>Filter kategori + 3 artikel. Halaman detail artikel menunggu keputusan CMS</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txBox="1"/>
          <p:nvPr>
            <p:ph type="title"/>
          </p:nvPr>
        </p:nvSpPr>
        <p:spPr>
          <a:xfrm>
            <a:off x="311700" y="1320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Contact Us</a:t>
            </a:r>
            <a:endParaRPr b="1" sz="1800"/>
          </a:p>
        </p:txBody>
      </p:sp>
      <p:sp>
        <p:nvSpPr>
          <p:cNvPr id="172" name="Google Shape;172;p25"/>
          <p:cNvSpPr txBox="1"/>
          <p:nvPr/>
        </p:nvSpPr>
        <p:spPr>
          <a:xfrm>
            <a:off x="355125" y="629325"/>
            <a:ext cx="4216800" cy="15048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lt1"/>
                </a:solidFill>
              </a:rPr>
              <a:t>Intro:</a:t>
            </a:r>
            <a:endParaRPr sz="800">
              <a:solidFill>
                <a:schemeClr val="lt1"/>
              </a:solidFill>
            </a:endParaRPr>
          </a:p>
          <a:p>
            <a:pPr indent="0" lvl="0" marL="0" rtl="0" algn="l">
              <a:spcBef>
                <a:spcPts val="0"/>
              </a:spcBef>
              <a:spcAft>
                <a:spcPts val="0"/>
              </a:spcAft>
              <a:buClr>
                <a:schemeClr val="dk1"/>
              </a:buClr>
              <a:buSzPts val="1100"/>
              <a:buFont typeface="Arial"/>
              <a:buNone/>
            </a:pPr>
            <a:r>
              <a:rPr lang="en" sz="800">
                <a:solidFill>
                  <a:schemeClr val="lt1"/>
                </a:solidFill>
              </a:rPr>
              <a:t>📞 Need help with your study abroad plan? Our team is ready to assist you at every step.</a:t>
            </a:r>
            <a:endParaRPr sz="800">
              <a:solidFill>
                <a:schemeClr val="lt1"/>
              </a:solidFill>
            </a:endParaRPr>
          </a:p>
          <a:p>
            <a:pPr indent="0" lvl="0" marL="457200" rtl="0" algn="l">
              <a:spcBef>
                <a:spcPts val="0"/>
              </a:spcBef>
              <a:spcAft>
                <a:spcPts val="0"/>
              </a:spcAft>
              <a:buClr>
                <a:schemeClr val="dk1"/>
              </a:buClr>
              <a:buSzPts val="1100"/>
              <a:buFont typeface="Arial"/>
              <a:buNone/>
            </a:pPr>
            <a:r>
              <a:t/>
            </a:r>
            <a:endParaRPr sz="800">
              <a:solidFill>
                <a:schemeClr val="lt1"/>
              </a:solidFill>
            </a:endParaRPr>
          </a:p>
          <a:p>
            <a:pPr indent="0" lvl="0" marL="0" rtl="0" algn="l">
              <a:spcBef>
                <a:spcPts val="0"/>
              </a:spcBef>
              <a:spcAft>
                <a:spcPts val="0"/>
              </a:spcAft>
              <a:buClr>
                <a:schemeClr val="dk1"/>
              </a:buClr>
              <a:buSzPts val="1100"/>
              <a:buFont typeface="Arial"/>
              <a:buNone/>
            </a:pPr>
            <a:r>
              <a:rPr lang="en" sz="800">
                <a:solidFill>
                  <a:schemeClr val="lt1"/>
                </a:solidFill>
              </a:rPr>
              <a:t>Content:</a:t>
            </a:r>
            <a:endParaRPr sz="800">
              <a:solidFill>
                <a:schemeClr val="lt1"/>
              </a:solidFill>
            </a:endParaRPr>
          </a:p>
          <a:p>
            <a:pPr indent="-279400" lvl="0" marL="457200" rtl="0" algn="l">
              <a:spcBef>
                <a:spcPts val="0"/>
              </a:spcBef>
              <a:spcAft>
                <a:spcPts val="0"/>
              </a:spcAft>
              <a:buClr>
                <a:schemeClr val="lt1"/>
              </a:buClr>
              <a:buSzPts val="800"/>
              <a:buChar char="●"/>
            </a:pPr>
            <a:r>
              <a:rPr lang="en" sz="800">
                <a:solidFill>
                  <a:schemeClr val="lt1"/>
                </a:solidFill>
              </a:rPr>
              <a:t>Our Offices – Pangkalpinang, Makassar, (soon Jakarta). Address + Map embed.</a:t>
            </a:r>
            <a:endParaRPr sz="800">
              <a:solidFill>
                <a:schemeClr val="lt1"/>
              </a:solidFill>
            </a:endParaRPr>
          </a:p>
          <a:p>
            <a:pPr indent="-279400" lvl="0" marL="457200" rtl="0" algn="l">
              <a:spcBef>
                <a:spcPts val="0"/>
              </a:spcBef>
              <a:spcAft>
                <a:spcPts val="0"/>
              </a:spcAft>
              <a:buClr>
                <a:schemeClr val="lt1"/>
              </a:buClr>
              <a:buSzPts val="800"/>
              <a:buChar char="●"/>
            </a:pPr>
            <a:r>
              <a:rPr lang="en" sz="800">
                <a:solidFill>
                  <a:schemeClr val="lt1"/>
                </a:solidFill>
              </a:rPr>
              <a:t>Email &amp; Phone Number – clickable for mobile users.</a:t>
            </a:r>
            <a:endParaRPr sz="800">
              <a:solidFill>
                <a:schemeClr val="lt1"/>
              </a:solidFill>
            </a:endParaRPr>
          </a:p>
          <a:p>
            <a:pPr indent="-279400" lvl="0" marL="457200" rtl="0" algn="l">
              <a:spcBef>
                <a:spcPts val="0"/>
              </a:spcBef>
              <a:spcAft>
                <a:spcPts val="0"/>
              </a:spcAft>
              <a:buClr>
                <a:schemeClr val="lt1"/>
              </a:buClr>
              <a:buSzPts val="800"/>
              <a:buChar char="●"/>
            </a:pPr>
            <a:r>
              <a:rPr lang="en" sz="800">
                <a:solidFill>
                  <a:schemeClr val="lt1"/>
                </a:solidFill>
              </a:rPr>
              <a:t>Social Media – IG, FB, WhatsApp button.</a:t>
            </a:r>
            <a:endParaRPr sz="800">
              <a:solidFill>
                <a:schemeClr val="lt1"/>
              </a:solidFill>
            </a:endParaRPr>
          </a:p>
          <a:p>
            <a:pPr indent="0" lvl="0" marL="0" rtl="0" algn="l">
              <a:spcBef>
                <a:spcPts val="0"/>
              </a:spcBef>
              <a:spcAft>
                <a:spcPts val="0"/>
              </a:spcAft>
              <a:buNone/>
            </a:pPr>
            <a:r>
              <a:t/>
            </a:r>
            <a:endParaRPr sz="800">
              <a:solidFill>
                <a:schemeClr val="lt1"/>
              </a:solidFill>
            </a:endParaRPr>
          </a:p>
        </p:txBody>
      </p:sp>
      <p:pic>
        <p:nvPicPr>
          <p:cNvPr id="173" name="Google Shape;173;p25" title="Screenshot 2025-09-10 at 20.07.58.png"/>
          <p:cNvPicPr preferRelativeResize="0"/>
          <p:nvPr/>
        </p:nvPicPr>
        <p:blipFill>
          <a:blip r:embed="rId3">
            <a:alphaModFix/>
          </a:blip>
          <a:stretch>
            <a:fillRect/>
          </a:stretch>
        </p:blipFill>
        <p:spPr>
          <a:xfrm>
            <a:off x="5011650" y="763100"/>
            <a:ext cx="3084599" cy="1821483"/>
          </a:xfrm>
          <a:prstGeom prst="rect">
            <a:avLst/>
          </a:prstGeom>
          <a:noFill/>
          <a:ln>
            <a:noFill/>
          </a:ln>
          <a:effectLst>
            <a:outerShdw blurRad="57150" rotWithShape="0" algn="bl" dir="5400000" dist="19050">
              <a:srgbClr val="000000">
                <a:alpha val="50000"/>
              </a:srgbClr>
            </a:outerShdw>
          </a:effectLst>
        </p:spPr>
      </p:pic>
      <p:sp>
        <p:nvSpPr>
          <p:cNvPr id="174" name="Google Shape;174;p25"/>
          <p:cNvSpPr txBox="1"/>
          <p:nvPr/>
        </p:nvSpPr>
        <p:spPr>
          <a:xfrm>
            <a:off x="5740425" y="2623375"/>
            <a:ext cx="1553400" cy="2931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lt1"/>
                </a:solidFill>
              </a:rPr>
              <a:t>Our Offices</a:t>
            </a:r>
            <a:endParaRPr sz="800">
              <a:solidFill>
                <a:schemeClr val="lt1"/>
              </a:solidFill>
            </a:endParaRPr>
          </a:p>
        </p:txBody>
      </p:sp>
      <p:pic>
        <p:nvPicPr>
          <p:cNvPr id="175" name="Google Shape;175;p25" title="Screenshot 2025-09-11 at 10.19.18.png"/>
          <p:cNvPicPr preferRelativeResize="0"/>
          <p:nvPr/>
        </p:nvPicPr>
        <p:blipFill>
          <a:blip r:embed="rId4">
            <a:alphaModFix/>
          </a:blip>
          <a:stretch>
            <a:fillRect/>
          </a:stretch>
        </p:blipFill>
        <p:spPr>
          <a:xfrm>
            <a:off x="311700" y="2259300"/>
            <a:ext cx="4083070" cy="2704575"/>
          </a:xfrm>
          <a:prstGeom prst="rect">
            <a:avLst/>
          </a:prstGeom>
          <a:noFill/>
          <a:ln>
            <a:noFill/>
          </a:ln>
        </p:spPr>
      </p:pic>
      <p:sp>
        <p:nvSpPr>
          <p:cNvPr id="176" name="Rounded Rectangle 175"/>
          <p:cNvSpPr/>
          <p:nvPr/>
        </p:nvSpPr>
        <p:spPr>
          <a:xfrm>
            <a:off x="5669280" y="164592"/>
            <a:ext cx="3246120" cy="713232"/>
          </a:xfrm>
          <a:prstGeom prst="roundRect">
            <a:avLst/>
          </a:prstGeom>
          <a:solidFill>
            <a:srgbClr val="C88A0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r>
              <a:rPr sz="1200" b="1">
                <a:solidFill>
                  <a:srgbClr val="FFFFFF"/>
                </a:solidFill>
              </a:rPr>
              <a:t>SEBAGIAN</a:t>
            </a:r>
          </a:p>
          <a:p>
            <a:r>
              <a:rPr sz="850">
                <a:solidFill>
                  <a:srgbClr val="FFFFFF"/>
                </a:solidFill>
              </a:rPr>
              <a:t>Kantor + WA + sosmed OK. Alamat lengkap &amp; embed Maps menunggu data</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6"/>
          <p:cNvSpPr txBox="1"/>
          <p:nvPr>
            <p:ph type="title"/>
          </p:nvPr>
        </p:nvSpPr>
        <p:spPr>
          <a:xfrm>
            <a:off x="311700" y="1320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Language Course Enrollment </a:t>
            </a:r>
            <a:endParaRPr b="1" sz="1800"/>
          </a:p>
        </p:txBody>
      </p:sp>
      <p:sp>
        <p:nvSpPr>
          <p:cNvPr id="181" name="Google Shape;181;p26"/>
          <p:cNvSpPr txBox="1"/>
          <p:nvPr/>
        </p:nvSpPr>
        <p:spPr>
          <a:xfrm>
            <a:off x="355125" y="629325"/>
            <a:ext cx="4216800" cy="15048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rPr>
              <a:t>Enrollment Flow:</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Student choose their desired course and click Join/Register</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They will be directed to Registration Form to ask their details and </a:t>
            </a:r>
            <a:r>
              <a:rPr lang="en" sz="800">
                <a:solidFill>
                  <a:schemeClr val="lt1"/>
                </a:solidFill>
              </a:rPr>
              <a:t>proceed</a:t>
            </a:r>
            <a:r>
              <a:rPr lang="en" sz="800">
                <a:solidFill>
                  <a:schemeClr val="lt1"/>
                </a:solidFill>
              </a:rPr>
              <a:t> with payment</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Once payment is successful, they will be given timetable in calendar format in which every time they want to start the class, they can login and enroll the course.</a:t>
            </a:r>
            <a:endParaRPr sz="800">
              <a:solidFill>
                <a:schemeClr val="lt1"/>
              </a:solidFill>
            </a:endParaRPr>
          </a:p>
          <a:p>
            <a:pPr indent="-279400" lvl="0" marL="457200" rtl="0" algn="l">
              <a:spcBef>
                <a:spcPts val="0"/>
              </a:spcBef>
              <a:spcAft>
                <a:spcPts val="0"/>
              </a:spcAft>
              <a:buClr>
                <a:schemeClr val="lt1"/>
              </a:buClr>
              <a:buSzPts val="800"/>
              <a:buAutoNum type="arabicPeriod"/>
            </a:pPr>
            <a:r>
              <a:rPr lang="en" sz="800">
                <a:solidFill>
                  <a:schemeClr val="lt1"/>
                </a:solidFill>
              </a:rPr>
              <a:t>Student will be reminded via email prior to start their first class </a:t>
            </a:r>
            <a:endParaRPr sz="800">
              <a:solidFill>
                <a:schemeClr val="lt1"/>
              </a:solidFill>
            </a:endParaRPr>
          </a:p>
        </p:txBody>
      </p:sp>
      <p:pic>
        <p:nvPicPr>
          <p:cNvPr id="182" name="Google Shape;182;p26" title="Screenshot 2025-09-18 at 09.37.18.png"/>
          <p:cNvPicPr preferRelativeResize="0"/>
          <p:nvPr/>
        </p:nvPicPr>
        <p:blipFill>
          <a:blip r:embed="rId3">
            <a:alphaModFix/>
          </a:blip>
          <a:stretch>
            <a:fillRect/>
          </a:stretch>
        </p:blipFill>
        <p:spPr>
          <a:xfrm>
            <a:off x="152400" y="2286525"/>
            <a:ext cx="6448164" cy="2704577"/>
          </a:xfrm>
          <a:prstGeom prst="rect">
            <a:avLst/>
          </a:prstGeom>
          <a:noFill/>
          <a:ln>
            <a:noFill/>
          </a:ln>
        </p:spPr>
      </p:pic>
      <p:sp>
        <p:nvSpPr>
          <p:cNvPr id="183" name="Rounded Rectangle 182"/>
          <p:cNvSpPr/>
          <p:nvPr/>
        </p:nvSpPr>
        <p:spPr>
          <a:xfrm>
            <a:off x="5669280" y="164592"/>
            <a:ext cx="3246120" cy="713232"/>
          </a:xfrm>
          <a:prstGeom prst="roundRect">
            <a:avLst/>
          </a:prstGeom>
          <a:solidFill>
            <a:srgbClr val="5B6B7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r>
              <a:rPr sz="1200" b="1">
                <a:solidFill>
                  <a:srgbClr val="FFFFFF"/>
                </a:solidFill>
              </a:rPr>
              <a:t>BELUM — BACKLOG</a:t>
            </a:r>
          </a:p>
          <a:p>
            <a:r>
              <a:rPr sz="850">
                <a:solidFill>
                  <a:srgbClr val="FFFFFF"/>
                </a:solidFill>
              </a:rPr>
              <a:t>Butuh keputusan payment gateway &amp; sistem booking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a:spAutoFit/>
          </a:bodyPr>
          <a:lstStyle/>
          <a:p>
            <a:pPr algn="l"/>
            <a:r>
              <a:rPr sz="2400" b="1">
                <a:solidFill>
                  <a:srgbClr val="14304C"/>
                </a:solidFill>
              </a:rPr>
              <a:t>Ringkasan Status Implementasi — 16 Juli 2026</a:t>
            </a:r>
          </a:p>
        </p:txBody>
      </p:sp>
      <p:sp>
        <p:nvSpPr>
          <p:cNvPr id="3" name="TextBox 2"/>
          <p:cNvSpPr txBox="1"/>
          <p:nvPr/>
        </p:nvSpPr>
        <p:spPr>
          <a:xfrm>
            <a:off x="457200" y="868680"/>
            <a:ext cx="8229600" cy="365760"/>
          </a:xfrm>
          <a:prstGeom prst="rect">
            <a:avLst/>
          </a:prstGeom>
          <a:noFill/>
        </p:spPr>
        <p:txBody>
          <a:bodyPr wrap="square">
            <a:spAutoFit/>
          </a:bodyPr>
          <a:lstStyle/>
          <a:p>
            <a:pPr algn="l"/>
            <a:r>
              <a:rPr sz="1300" b="1">
                <a:solidFill>
                  <a:srgbClr val="EC4899"/>
                </a:solidFill>
              </a:rPr>
              <a:t>Rebuild Elementor → Next.js + TypeScript + SEO/GEO</a:t>
            </a:r>
          </a:p>
        </p:txBody>
      </p:sp>
      <p:sp>
        <p:nvSpPr>
          <p:cNvPr id="4" name="TextBox 3"/>
          <p:cNvSpPr txBox="1"/>
          <p:nvPr/>
        </p:nvSpPr>
        <p:spPr>
          <a:xfrm>
            <a:off x="457200" y="1417320"/>
            <a:ext cx="4023360" cy="3131820"/>
          </a:xfrm>
          <a:prstGeom prst="rect">
            <a:avLst/>
          </a:prstGeom>
          <a:noFill/>
        </p:spPr>
        <p:txBody>
          <a:bodyPr wrap="square">
            <a:spAutoFit/>
          </a:bodyPr>
          <a:lstStyle/>
          <a:p>
            <a:pPr algn="l"/>
            <a:r>
              <a:rPr sz="1250" b="0">
                <a:solidFill>
                  <a:srgbClr val="14304C"/>
                </a:solidFill>
              </a:rPr>
              <a:t>SELESAI:
• Navigasi lengkap sesuai panduan (dropdown, CTA pink, Login)
• Home: hero, 6 langkah, form konsultasi, testimoni alumni
• About Us: story, Vision/Mission, sertifikasi, tim
• Services: 6 layanan visa + IMMagine &amp; Middow + FAQ
• Language Programs: data kursus &amp; 4 pengajar asli
• 6 halaman negara (Australia terlengkap)
• SEO dasar + structured data (GEO)</a:t>
            </a:r>
          </a:p>
        </p:txBody>
      </p:sp>
      <p:sp>
        <p:nvSpPr>
          <p:cNvPr id="5" name="TextBox 4"/>
          <p:cNvSpPr txBox="1"/>
          <p:nvPr/>
        </p:nvSpPr>
        <p:spPr>
          <a:xfrm>
            <a:off x="4663440" y="1417320"/>
            <a:ext cx="4023360" cy="3131820"/>
          </a:xfrm>
          <a:prstGeom prst="rect">
            <a:avLst/>
          </a:prstGeom>
          <a:noFill/>
        </p:spPr>
        <p:txBody>
          <a:bodyPr wrap="square">
            <a:spAutoFit/>
          </a:bodyPr>
          <a:lstStyle/>
          <a:p>
            <a:pPr algn="l"/>
            <a:r>
              <a:rPr sz="1250" b="0">
                <a:solidFill>
                  <a:srgbClr val="14304C"/>
                </a:solidFill>
              </a:rPr>
              <a:t>MENUNGGU DARI TIM / KEPUTUSAN:
• Foto + bio Cindy Christella
• Alamat kantor lengkap &amp; kontak resmi (telepon/email)
• Logo universitas partner resmi
• Keputusan CMS untuk Blog
• Payment gateway untuk enrollment kursus bahasa
• PDF checklist dokumen visa
• Konten detail negara selain Australia</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